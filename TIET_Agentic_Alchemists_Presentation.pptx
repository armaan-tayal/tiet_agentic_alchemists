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youtu.be/Psh_xwHFJDE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2"/>
          <p:cNvSpPr txBox="1"/>
          <p:nvPr/>
        </p:nvSpPr>
        <p:spPr>
          <a:xfrm>
            <a:off x="640079" y="502919"/>
            <a:ext cx="1091153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lnSpc>
                <a:spcPct val="108000"/>
              </a:lnSpc>
              <a:defRPr sz="1600">
                <a:solidFill>
                  <a:srgbClr val="C0C0C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SAMSUNG PRISM GENAI HACKATHON  ·  3RD EDITION  ·  2026–27</a:t>
            </a:r>
          </a:p>
        </p:txBody>
      </p:sp>
      <p:grpSp>
        <p:nvGrpSpPr>
          <p:cNvPr id="98" name="Rounded Rectangle 3"/>
          <p:cNvGrpSpPr/>
          <p:nvPr/>
        </p:nvGrpSpPr>
        <p:grpSpPr>
          <a:xfrm>
            <a:off x="5426709" y="1101217"/>
            <a:ext cx="1325882" cy="402337"/>
            <a:chOff x="0" y="0"/>
            <a:chExt cx="1325880" cy="402336"/>
          </a:xfrm>
        </p:grpSpPr>
        <p:sp>
          <p:nvSpPr>
            <p:cNvPr id="96" name="Rounded Rectangle"/>
            <p:cNvSpPr/>
            <p:nvPr/>
          </p:nvSpPr>
          <p:spPr>
            <a:xfrm>
              <a:off x="0" y="0"/>
              <a:ext cx="1325881" cy="402337"/>
            </a:xfrm>
            <a:prstGeom prst="roundRect">
              <a:avLst>
                <a:gd name="adj" fmla="val 50000"/>
              </a:avLst>
            </a:prstGeom>
            <a:solidFill>
              <a:srgbClr val="141414"/>
            </a:solidFill>
            <a:ln w="12700" cap="flat">
              <a:solidFill>
                <a:srgbClr val="46464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" name="THEME 2"/>
            <p:cNvSpPr txBox="1"/>
            <p:nvPr/>
          </p:nvSpPr>
          <p:spPr>
            <a:xfrm>
              <a:off x="65269" y="118617"/>
              <a:ext cx="1195342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SF Pro Bold"/>
                  <a:ea typeface="SF Pro Bold"/>
                  <a:cs typeface="SF Pro Bold"/>
                  <a:sym typeface="SF Pro Bold"/>
                </a:defRPr>
              </a:lvl1pPr>
            </a:lstStyle>
            <a:p>
              <a:pPr/>
              <a:r>
                <a:t>THEME 2</a:t>
              </a:r>
            </a:p>
          </p:txBody>
        </p:sp>
      </p:grpSp>
      <p:sp>
        <p:nvSpPr>
          <p:cNvPr id="99" name="TextBox 4"/>
          <p:cNvSpPr txBox="1"/>
          <p:nvPr/>
        </p:nvSpPr>
        <p:spPr>
          <a:xfrm>
            <a:off x="633882" y="1664872"/>
            <a:ext cx="10911536" cy="2271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defRPr sz="58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FixPilot - Smart Guided</a:t>
            </a:r>
          </a:p>
          <a:p>
            <a:pPr algn="ctr">
              <a:defRPr sz="58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Troubleshooting Engine</a:t>
            </a:r>
          </a:p>
        </p:txBody>
      </p:sp>
      <p:sp>
        <p:nvSpPr>
          <p:cNvPr id="100" name="TextBox 5"/>
          <p:cNvSpPr txBox="1"/>
          <p:nvPr/>
        </p:nvSpPr>
        <p:spPr>
          <a:xfrm>
            <a:off x="2006853" y="4097968"/>
            <a:ext cx="8165594" cy="555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lnSpc>
                <a:spcPct val="115000"/>
              </a:lnSpc>
              <a:defRPr sz="1600">
                <a:solidFill>
                  <a:srgbClr val="FFFFFF"/>
                </a:solidFill>
                <a:latin typeface="SF Pro Rounded Regular"/>
                <a:ea typeface="SF Pro Rounded Regular"/>
                <a:cs typeface="SF Pro Rounded Regular"/>
                <a:sym typeface="SF Pro Rounded Regular"/>
              </a:defRPr>
            </a:lvl1pPr>
          </a:lstStyle>
          <a:p>
            <a:pPr/>
            <a:r>
              <a:t>From vague Galaxy complaints to validated, ordered troubleshooting plans — with one-tap Settings deeplinks.</a:t>
            </a:r>
          </a:p>
        </p:txBody>
      </p:sp>
      <p:sp>
        <p:nvSpPr>
          <p:cNvPr id="101" name="Rectangle 6"/>
          <p:cNvSpPr/>
          <p:nvPr/>
        </p:nvSpPr>
        <p:spPr>
          <a:xfrm>
            <a:off x="5541009" y="4883433"/>
            <a:ext cx="1097282" cy="25401"/>
          </a:xfrm>
          <a:prstGeom prst="rect">
            <a:avLst/>
          </a:prstGeom>
          <a:solidFill>
            <a:srgbClr val="C0C0C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TextBox 7"/>
          <p:cNvSpPr txBox="1"/>
          <p:nvPr/>
        </p:nvSpPr>
        <p:spPr>
          <a:xfrm>
            <a:off x="640079" y="5138928"/>
            <a:ext cx="1091153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lnSpc>
                <a:spcPct val="108000"/>
              </a:lnSpc>
              <a:defRPr sz="1600">
                <a:solidFill>
                  <a:srgbClr val="FFFFFF"/>
                </a:solidFill>
                <a:latin typeface="SF Pro Rounded Regular"/>
                <a:ea typeface="SF Pro Rounded Regular"/>
                <a:cs typeface="SF Pro Rounded Regular"/>
                <a:sym typeface="SF Pro Rounded Regular"/>
              </a:defRPr>
            </a:lvl1pPr>
          </a:lstStyle>
          <a:p>
            <a:pPr/>
            <a:r>
              <a:t>TEAM  -  TIET_Agentic_Alchemists</a:t>
            </a:r>
          </a:p>
        </p:txBody>
      </p:sp>
      <p:sp>
        <p:nvSpPr>
          <p:cNvPr id="103" name="TextBox 8"/>
          <p:cNvSpPr txBox="1"/>
          <p:nvPr/>
        </p:nvSpPr>
        <p:spPr>
          <a:xfrm>
            <a:off x="640079" y="5504688"/>
            <a:ext cx="10911537" cy="538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lnSpc>
                <a:spcPct val="108000"/>
              </a:lnSpc>
              <a:defRPr sz="1600">
                <a:solidFill>
                  <a:srgbClr val="FFFFFF"/>
                </a:solidFill>
                <a:latin typeface="SF Pro Rounded Regular"/>
                <a:ea typeface="SF Pro Rounded Regular"/>
                <a:cs typeface="SF Pro Rounded Regular"/>
                <a:sym typeface="SF Pro Rounded Regular"/>
              </a:defRPr>
            </a:pPr>
            <a:r>
              <a:t>Armaan Tayal  ·  Tannishth Gupta  ·  Shlok Jain  ·  Krish Mittal</a:t>
            </a:r>
          </a:p>
          <a:p>
            <a:pPr algn="ctr">
              <a:lnSpc>
                <a:spcPct val="108000"/>
              </a:lnSpc>
              <a:defRPr sz="1600">
                <a:solidFill>
                  <a:srgbClr val="FFFFFF"/>
                </a:solidFill>
                <a:latin typeface="SF Pro Rounded Regular"/>
                <a:ea typeface="SF Pro Rounded Regular"/>
                <a:cs typeface="SF Pro Rounded Regular"/>
                <a:sym typeface="SF Pro Rounded Regular"/>
              </a:defRPr>
            </a:pPr>
            <a:r>
              <a:t> Thapar Institute of Engineering &amp; Technology</a:t>
            </a:r>
          </a:p>
        </p:txBody>
      </p:sp>
      <p:sp>
        <p:nvSpPr>
          <p:cNvPr id="104" name="TextBox 9"/>
          <p:cNvSpPr txBox="1"/>
          <p:nvPr/>
        </p:nvSpPr>
        <p:spPr>
          <a:xfrm>
            <a:off x="640079" y="6263640"/>
            <a:ext cx="1091153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lnSpc>
                <a:spcPct val="108000"/>
              </a:lnSpc>
              <a:defRPr sz="16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100% DEEPLINK ACCURACY    ·    ~40 MS CACHED ANSWERS    ·    $0.00 / QUERY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Box 2"/>
          <p:cNvSpPr txBox="1"/>
          <p:nvPr/>
        </p:nvSpPr>
        <p:spPr>
          <a:xfrm>
            <a:off x="625999" y="443281"/>
            <a:ext cx="7315201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02  ·  P R O B L E M</a:t>
            </a:r>
          </a:p>
        </p:txBody>
      </p:sp>
      <p:sp>
        <p:nvSpPr>
          <p:cNvPr id="108" name="Rectangle 3"/>
          <p:cNvSpPr/>
          <p:nvPr/>
        </p:nvSpPr>
        <p:spPr>
          <a:xfrm>
            <a:off x="640080" y="693649"/>
            <a:ext cx="502920" cy="25401"/>
          </a:xfrm>
          <a:prstGeom prst="rect">
            <a:avLst/>
          </a:prstGeom>
          <a:solidFill>
            <a:srgbClr val="C0C0C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TextBox 4"/>
          <p:cNvSpPr txBox="1"/>
          <p:nvPr/>
        </p:nvSpPr>
        <p:spPr>
          <a:xfrm>
            <a:off x="640079" y="713231"/>
            <a:ext cx="10911537" cy="1642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4000"/>
              </a:lnSpc>
              <a:defRPr sz="42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Troubleshooting shouldn’t feel like a maze</a:t>
            </a:r>
          </a:p>
        </p:txBody>
      </p:sp>
      <p:sp>
        <p:nvSpPr>
          <p:cNvPr id="110" name="Rounded Rectangle 5"/>
          <p:cNvSpPr/>
          <p:nvPr/>
        </p:nvSpPr>
        <p:spPr>
          <a:xfrm>
            <a:off x="640080" y="2599199"/>
            <a:ext cx="3423819" cy="288036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6"/>
          <p:cNvSpPr txBox="1"/>
          <p:nvPr/>
        </p:nvSpPr>
        <p:spPr>
          <a:xfrm>
            <a:off x="927583" y="2813304"/>
            <a:ext cx="2838603" cy="1917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38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01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“screen flickers”, “wifi keeps dropping”</a:t>
            </a:r>
          </a:p>
          <a:p>
            <a:pPr>
              <a:lnSpc>
                <a:spcPct val="130000"/>
              </a:lnSpc>
              <a:defRPr sz="12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Users speak in symptoms.</a:t>
            </a:r>
          </a:p>
          <a:p>
            <a:pPr>
              <a:lnSpc>
                <a:spcPct val="130000"/>
              </a:lnSpc>
              <a:defRPr sz="12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Support docs speak in jargon.</a:t>
            </a:r>
          </a:p>
        </p:txBody>
      </p:sp>
      <p:sp>
        <p:nvSpPr>
          <p:cNvPr id="112" name="Rounded Rectangle 7"/>
          <p:cNvSpPr/>
          <p:nvPr/>
        </p:nvSpPr>
        <p:spPr>
          <a:xfrm>
            <a:off x="4377740" y="2599199"/>
            <a:ext cx="3423820" cy="288036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8"/>
          <p:cNvSpPr txBox="1"/>
          <p:nvPr/>
        </p:nvSpPr>
        <p:spPr>
          <a:xfrm>
            <a:off x="4670348" y="2944749"/>
            <a:ext cx="2838604" cy="1654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38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02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Hundreds of Settings screens</a:t>
            </a:r>
          </a:p>
          <a:p>
            <a:pPr>
              <a:lnSpc>
                <a:spcPct val="130000"/>
              </a:lnSpc>
              <a:defRPr sz="12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Users get lost four taps deep,</a:t>
            </a:r>
          </a:p>
          <a:p>
            <a:pPr>
              <a:lnSpc>
                <a:spcPct val="130000"/>
              </a:lnSpc>
              <a:defRPr sz="12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following text instructions.</a:t>
            </a:r>
          </a:p>
        </p:txBody>
      </p:sp>
      <p:sp>
        <p:nvSpPr>
          <p:cNvPr id="114" name="Rounded Rectangle 9"/>
          <p:cNvSpPr/>
          <p:nvPr/>
        </p:nvSpPr>
        <p:spPr>
          <a:xfrm>
            <a:off x="8120506" y="2599199"/>
            <a:ext cx="3423819" cy="288036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10"/>
          <p:cNvSpPr txBox="1"/>
          <p:nvPr/>
        </p:nvSpPr>
        <p:spPr>
          <a:xfrm>
            <a:off x="8413114" y="2944749"/>
            <a:ext cx="2838603" cy="1654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38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03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5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Chatbots invent answers</a:t>
            </a:r>
          </a:p>
          <a:p>
            <a:pPr>
              <a:lnSpc>
                <a:spcPct val="130000"/>
              </a:lnSpc>
              <a:defRPr sz="12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Fake menu paths. Wrong fixes.</a:t>
            </a:r>
          </a:p>
          <a:p>
            <a:pPr>
              <a:lnSpc>
                <a:spcPct val="130000"/>
              </a:lnSpc>
              <a:defRPr sz="12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Zero trust.</a:t>
            </a:r>
          </a:p>
        </p:txBody>
      </p:sp>
      <p:sp>
        <p:nvSpPr>
          <p:cNvPr id="116" name="TextBox 11"/>
          <p:cNvSpPr txBox="1"/>
          <p:nvPr/>
        </p:nvSpPr>
        <p:spPr>
          <a:xfrm>
            <a:off x="633882" y="5813560"/>
            <a:ext cx="1091153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lnSpc>
                <a:spcPct val="108000"/>
              </a:lnSpc>
              <a:defRPr sz="1600">
                <a:solidFill>
                  <a:srgbClr val="FFFFFF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Self-serve has to be right the first time — not approximately right.</a:t>
            </a:r>
          </a:p>
        </p:txBody>
      </p:sp>
      <p:sp>
        <p:nvSpPr>
          <p:cNvPr id="117" name="TextBox 12"/>
          <p:cNvSpPr txBox="1"/>
          <p:nvPr/>
        </p:nvSpPr>
        <p:spPr>
          <a:xfrm>
            <a:off x="11109959" y="6419088"/>
            <a:ext cx="548641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5A5A5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extBox 2"/>
          <p:cNvSpPr txBox="1"/>
          <p:nvPr/>
        </p:nvSpPr>
        <p:spPr>
          <a:xfrm>
            <a:off x="566318" y="457361"/>
            <a:ext cx="7315201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03  ·  S O L U T I O N</a:t>
            </a:r>
          </a:p>
        </p:txBody>
      </p:sp>
      <p:sp>
        <p:nvSpPr>
          <p:cNvPr id="121" name="Rectangle 3"/>
          <p:cNvSpPr/>
          <p:nvPr/>
        </p:nvSpPr>
        <p:spPr>
          <a:xfrm>
            <a:off x="640080" y="707729"/>
            <a:ext cx="502920" cy="25401"/>
          </a:xfrm>
          <a:prstGeom prst="rect">
            <a:avLst/>
          </a:prstGeom>
          <a:solidFill>
            <a:srgbClr val="C0C0C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TextBox 4"/>
          <p:cNvSpPr txBox="1"/>
          <p:nvPr/>
        </p:nvSpPr>
        <p:spPr>
          <a:xfrm>
            <a:off x="633882" y="777739"/>
            <a:ext cx="10911536" cy="79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4000"/>
              </a:lnSpc>
              <a:defRPr sz="40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Vague complaint in. Validated plan out.</a:t>
            </a:r>
          </a:p>
        </p:txBody>
      </p:sp>
      <p:sp>
        <p:nvSpPr>
          <p:cNvPr id="123" name="Rounded Rectangle 5"/>
          <p:cNvSpPr/>
          <p:nvPr/>
        </p:nvSpPr>
        <p:spPr>
          <a:xfrm>
            <a:off x="640080" y="2240279"/>
            <a:ext cx="3423819" cy="178308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6"/>
          <p:cNvSpPr txBox="1"/>
          <p:nvPr/>
        </p:nvSpPr>
        <p:spPr>
          <a:xfrm>
            <a:off x="896111" y="2419501"/>
            <a:ext cx="2911755" cy="1168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800"/>
              </a:spcBef>
              <a:defRPr sz="1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INPUT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“My screen keeps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flickering…”</a:t>
            </a:r>
          </a:p>
          <a:p>
            <a:pPr>
              <a:lnSpc>
                <a:spcPct val="108000"/>
              </a:lnSpc>
              <a:defRPr sz="11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+ SIIS support article</a:t>
            </a:r>
          </a:p>
        </p:txBody>
      </p:sp>
      <p:sp>
        <p:nvSpPr>
          <p:cNvPr id="125" name="TextBox 7"/>
          <p:cNvSpPr txBox="1"/>
          <p:nvPr/>
        </p:nvSpPr>
        <p:spPr>
          <a:xfrm>
            <a:off x="4082186" y="2848102"/>
            <a:ext cx="283465" cy="430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lnSpc>
                <a:spcPct val="108000"/>
              </a:lnSpc>
              <a:defRPr sz="26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26" name="Rounded Rectangle 8"/>
          <p:cNvSpPr/>
          <p:nvPr/>
        </p:nvSpPr>
        <p:spPr>
          <a:xfrm>
            <a:off x="4383937" y="2240279"/>
            <a:ext cx="3423819" cy="178308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9"/>
          <p:cNvSpPr txBox="1"/>
          <p:nvPr/>
        </p:nvSpPr>
        <p:spPr>
          <a:xfrm>
            <a:off x="4639969" y="2419501"/>
            <a:ext cx="2911755" cy="1168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800"/>
              </a:spcBef>
              <a:defRPr sz="1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ENGINE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Enrich → ground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→ retrieve → validate</a:t>
            </a:r>
          </a:p>
          <a:p>
            <a:pPr>
              <a:lnSpc>
                <a:spcPct val="108000"/>
              </a:lnSpc>
              <a:defRPr sz="11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Deterministic pipeline</a:t>
            </a:r>
          </a:p>
        </p:txBody>
      </p:sp>
      <p:sp>
        <p:nvSpPr>
          <p:cNvPr id="128" name="TextBox 10"/>
          <p:cNvSpPr txBox="1"/>
          <p:nvPr/>
        </p:nvSpPr>
        <p:spPr>
          <a:xfrm>
            <a:off x="7826044" y="2848102"/>
            <a:ext cx="283465" cy="430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lnSpc>
                <a:spcPct val="108000"/>
              </a:lnSpc>
              <a:defRPr sz="26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29" name="Rounded Rectangle 11"/>
          <p:cNvSpPr/>
          <p:nvPr/>
        </p:nvSpPr>
        <p:spPr>
          <a:xfrm>
            <a:off x="8127796" y="2240279"/>
            <a:ext cx="3423819" cy="178308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12"/>
          <p:cNvSpPr txBox="1"/>
          <p:nvPr/>
        </p:nvSpPr>
        <p:spPr>
          <a:xfrm>
            <a:off x="8383827" y="2419501"/>
            <a:ext cx="2911755" cy="1168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800"/>
              </a:spcBef>
              <a:defRPr sz="1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OUTPUT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Ordered plan +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one-tap deeplinks</a:t>
            </a:r>
          </a:p>
          <a:p>
            <a:pPr>
              <a:lnSpc>
                <a:spcPct val="108000"/>
              </a:lnSpc>
              <a:defRPr sz="11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Settings screens, verbatim</a:t>
            </a:r>
          </a:p>
        </p:txBody>
      </p:sp>
      <p:sp>
        <p:nvSpPr>
          <p:cNvPr id="131" name="TextBox 13"/>
          <p:cNvSpPr txBox="1"/>
          <p:nvPr/>
        </p:nvSpPr>
        <p:spPr>
          <a:xfrm>
            <a:off x="780881" y="4434840"/>
            <a:ext cx="3423819" cy="972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Deterministic core</a:t>
            </a:r>
          </a:p>
          <a:p>
            <a:pPr>
              <a:lnSpc>
                <a:spcPct val="130000"/>
              </a:lnSpc>
              <a:defRPr sz="12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Rules extract, ground and validate every step. The LLM is optional enrichment — never the source of truth.</a:t>
            </a:r>
          </a:p>
        </p:txBody>
      </p:sp>
      <p:sp>
        <p:nvSpPr>
          <p:cNvPr id="132" name="TextBox 14"/>
          <p:cNvSpPr txBox="1"/>
          <p:nvPr/>
        </p:nvSpPr>
        <p:spPr>
          <a:xfrm>
            <a:off x="4454338" y="4434840"/>
            <a:ext cx="3423819" cy="972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One-tap deeplinks</a:t>
            </a:r>
          </a:p>
          <a:p>
            <a:pPr>
              <a:lnSpc>
                <a:spcPct val="130000"/>
              </a:lnSpc>
              <a:defRPr sz="12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Hybrid retrieval picks the exact Settings screen from 578 catalog entries — copied verbatim, never invented.</a:t>
            </a:r>
          </a:p>
        </p:txBody>
      </p:sp>
      <p:sp>
        <p:nvSpPr>
          <p:cNvPr id="133" name="TextBox 15"/>
          <p:cNvSpPr txBox="1"/>
          <p:nvPr/>
        </p:nvSpPr>
        <p:spPr>
          <a:xfrm>
            <a:off x="8127796" y="4434840"/>
            <a:ext cx="3423819" cy="972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14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Fast by design</a:t>
            </a:r>
          </a:p>
          <a:p>
            <a:pPr>
              <a:lnSpc>
                <a:spcPct val="130000"/>
              </a:lnSpc>
              <a:defRPr sz="12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A multi-vector paraphrase cache answers repeat complaints in ~40 ms (P95). The API stays open and unauthenticated.</a:t>
            </a:r>
          </a:p>
        </p:txBody>
      </p:sp>
      <p:sp>
        <p:nvSpPr>
          <p:cNvPr id="134" name="TextBox 16"/>
          <p:cNvSpPr txBox="1"/>
          <p:nvPr/>
        </p:nvSpPr>
        <p:spPr>
          <a:xfrm>
            <a:off x="11109959" y="6419088"/>
            <a:ext cx="548641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5A5A5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Box 2"/>
          <p:cNvSpPr txBox="1"/>
          <p:nvPr/>
        </p:nvSpPr>
        <p:spPr>
          <a:xfrm>
            <a:off x="583759" y="344424"/>
            <a:ext cx="7315201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04  ·  A R C H I T E C T U R E</a:t>
            </a:r>
          </a:p>
        </p:txBody>
      </p:sp>
      <p:sp>
        <p:nvSpPr>
          <p:cNvPr id="138" name="Rectangle 3"/>
          <p:cNvSpPr/>
          <p:nvPr/>
        </p:nvSpPr>
        <p:spPr>
          <a:xfrm>
            <a:off x="597839" y="679568"/>
            <a:ext cx="502920" cy="25401"/>
          </a:xfrm>
          <a:prstGeom prst="rect">
            <a:avLst/>
          </a:prstGeom>
          <a:solidFill>
            <a:srgbClr val="C0C0C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4"/>
          <p:cNvSpPr txBox="1"/>
          <p:nvPr/>
        </p:nvSpPr>
        <p:spPr>
          <a:xfrm>
            <a:off x="640079" y="713231"/>
            <a:ext cx="10911537" cy="79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4000"/>
              </a:lnSpc>
              <a:defRPr sz="40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A pipeline that can't hallucinate</a:t>
            </a:r>
          </a:p>
        </p:txBody>
      </p:sp>
      <p:sp>
        <p:nvSpPr>
          <p:cNvPr id="140" name="TextBox 5"/>
          <p:cNvSpPr txBox="1"/>
          <p:nvPr/>
        </p:nvSpPr>
        <p:spPr>
          <a:xfrm>
            <a:off x="640079" y="1691639"/>
            <a:ext cx="1091153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600">
                <a:solidFill>
                  <a:srgbClr val="FFFFFF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Seven stages. Every stage is verifiable — uncited or ungrounded output is rejected, not repaired.</a:t>
            </a:r>
          </a:p>
        </p:txBody>
      </p:sp>
      <p:sp>
        <p:nvSpPr>
          <p:cNvPr id="141" name="Rounded Rectangle 6"/>
          <p:cNvSpPr/>
          <p:nvPr/>
        </p:nvSpPr>
        <p:spPr>
          <a:xfrm>
            <a:off x="769466" y="2377439"/>
            <a:ext cx="1325882" cy="1783081"/>
          </a:xfrm>
          <a:prstGeom prst="roundRect">
            <a:avLst>
              <a:gd name="adj" fmla="val 14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7"/>
          <p:cNvSpPr txBox="1"/>
          <p:nvPr/>
        </p:nvSpPr>
        <p:spPr>
          <a:xfrm>
            <a:off x="860907" y="2542032"/>
            <a:ext cx="1143001" cy="766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600"/>
              </a:spcBef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ENRICH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Normalize query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+ 8–10 paraphrases</a:t>
            </a:r>
          </a:p>
        </p:txBody>
      </p:sp>
      <p:sp>
        <p:nvSpPr>
          <p:cNvPr id="143" name="TextBox 8"/>
          <p:cNvSpPr txBox="1"/>
          <p:nvPr/>
        </p:nvSpPr>
        <p:spPr>
          <a:xfrm>
            <a:off x="2104490" y="3075432"/>
            <a:ext cx="210313" cy="34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lnSpc>
                <a:spcPct val="108000"/>
              </a:lnSpc>
              <a:defRPr sz="2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44" name="Rounded Rectangle 9"/>
          <p:cNvSpPr/>
          <p:nvPr/>
        </p:nvSpPr>
        <p:spPr>
          <a:xfrm>
            <a:off x="2323946" y="2377439"/>
            <a:ext cx="1325881" cy="1783081"/>
          </a:xfrm>
          <a:prstGeom prst="roundRect">
            <a:avLst>
              <a:gd name="adj" fmla="val 14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10"/>
          <p:cNvSpPr txBox="1"/>
          <p:nvPr/>
        </p:nvSpPr>
        <p:spPr>
          <a:xfrm>
            <a:off x="2415387" y="2542032"/>
            <a:ext cx="1143001" cy="591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600"/>
              </a:spcBef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EXTRACT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Candidate steps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with source spans</a:t>
            </a:r>
          </a:p>
        </p:txBody>
      </p:sp>
      <p:sp>
        <p:nvSpPr>
          <p:cNvPr id="146" name="TextBox 11"/>
          <p:cNvSpPr txBox="1"/>
          <p:nvPr/>
        </p:nvSpPr>
        <p:spPr>
          <a:xfrm>
            <a:off x="3658970" y="3075432"/>
            <a:ext cx="210313" cy="34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lnSpc>
                <a:spcPct val="108000"/>
              </a:lnSpc>
              <a:defRPr sz="2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47" name="Rounded Rectangle 12"/>
          <p:cNvSpPr/>
          <p:nvPr/>
        </p:nvSpPr>
        <p:spPr>
          <a:xfrm>
            <a:off x="3878426" y="2377439"/>
            <a:ext cx="1325881" cy="1783081"/>
          </a:xfrm>
          <a:prstGeom prst="roundRect">
            <a:avLst>
              <a:gd name="adj" fmla="val 14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13"/>
          <p:cNvSpPr txBox="1"/>
          <p:nvPr/>
        </p:nvSpPr>
        <p:spPr>
          <a:xfrm>
            <a:off x="3969866" y="2542032"/>
            <a:ext cx="1143001" cy="591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600"/>
              </a:spcBef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GROUND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Cite SIIS text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— else rejected</a:t>
            </a:r>
          </a:p>
        </p:txBody>
      </p:sp>
      <p:sp>
        <p:nvSpPr>
          <p:cNvPr id="149" name="TextBox 14"/>
          <p:cNvSpPr txBox="1"/>
          <p:nvPr/>
        </p:nvSpPr>
        <p:spPr>
          <a:xfrm>
            <a:off x="5213451" y="3075432"/>
            <a:ext cx="210313" cy="34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lnSpc>
                <a:spcPct val="108000"/>
              </a:lnSpc>
              <a:defRPr sz="2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50" name="Rounded Rectangle 15"/>
          <p:cNvSpPr/>
          <p:nvPr/>
        </p:nvSpPr>
        <p:spPr>
          <a:xfrm>
            <a:off x="5432907" y="2377439"/>
            <a:ext cx="1325881" cy="1783081"/>
          </a:xfrm>
          <a:prstGeom prst="roundRect">
            <a:avLst>
              <a:gd name="adj" fmla="val 14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16"/>
          <p:cNvSpPr txBox="1"/>
          <p:nvPr/>
        </p:nvSpPr>
        <p:spPr>
          <a:xfrm>
            <a:off x="5524346" y="2542032"/>
            <a:ext cx="1143001" cy="591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600"/>
              </a:spcBef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GROUP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Order steps;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auto vs manual</a:t>
            </a:r>
          </a:p>
        </p:txBody>
      </p:sp>
      <p:sp>
        <p:nvSpPr>
          <p:cNvPr id="152" name="TextBox 17"/>
          <p:cNvSpPr txBox="1"/>
          <p:nvPr/>
        </p:nvSpPr>
        <p:spPr>
          <a:xfrm>
            <a:off x="6767931" y="3075432"/>
            <a:ext cx="210313" cy="34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lnSpc>
                <a:spcPct val="108000"/>
              </a:lnSpc>
              <a:defRPr sz="2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53" name="Rounded Rectangle 18"/>
          <p:cNvSpPr/>
          <p:nvPr/>
        </p:nvSpPr>
        <p:spPr>
          <a:xfrm>
            <a:off x="6987386" y="2377439"/>
            <a:ext cx="1325881" cy="1783081"/>
          </a:xfrm>
          <a:prstGeom prst="roundRect">
            <a:avLst>
              <a:gd name="adj" fmla="val 14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19"/>
          <p:cNvSpPr txBox="1"/>
          <p:nvPr/>
        </p:nvSpPr>
        <p:spPr>
          <a:xfrm>
            <a:off x="7078826" y="2542032"/>
            <a:ext cx="1143001" cy="591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600"/>
              </a:spcBef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RETRIEVE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BM25 + dense +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cross-encoder</a:t>
            </a:r>
          </a:p>
        </p:txBody>
      </p:sp>
      <p:sp>
        <p:nvSpPr>
          <p:cNvPr id="155" name="TextBox 20"/>
          <p:cNvSpPr txBox="1"/>
          <p:nvPr/>
        </p:nvSpPr>
        <p:spPr>
          <a:xfrm>
            <a:off x="8322410" y="3075432"/>
            <a:ext cx="210313" cy="34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lnSpc>
                <a:spcPct val="108000"/>
              </a:lnSpc>
              <a:defRPr sz="2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56" name="Rounded Rectangle 21"/>
          <p:cNvSpPr/>
          <p:nvPr/>
        </p:nvSpPr>
        <p:spPr>
          <a:xfrm>
            <a:off x="8541866" y="2377439"/>
            <a:ext cx="1325882" cy="1783081"/>
          </a:xfrm>
          <a:prstGeom prst="roundRect">
            <a:avLst>
              <a:gd name="adj" fmla="val 14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22"/>
          <p:cNvSpPr txBox="1"/>
          <p:nvPr/>
        </p:nvSpPr>
        <p:spPr>
          <a:xfrm>
            <a:off x="8633307" y="2542032"/>
            <a:ext cx="1143001" cy="591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600"/>
              </a:spcBef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VALIDATE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Schema, URL-leak,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catalog gates</a:t>
            </a:r>
          </a:p>
        </p:txBody>
      </p:sp>
      <p:sp>
        <p:nvSpPr>
          <p:cNvPr id="158" name="TextBox 23"/>
          <p:cNvSpPr txBox="1"/>
          <p:nvPr/>
        </p:nvSpPr>
        <p:spPr>
          <a:xfrm>
            <a:off x="9876890" y="3075432"/>
            <a:ext cx="210313" cy="34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lnSpc>
                <a:spcPct val="108000"/>
              </a:lnSpc>
              <a:defRPr sz="2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59" name="Rounded Rectangle 24"/>
          <p:cNvSpPr/>
          <p:nvPr/>
        </p:nvSpPr>
        <p:spPr>
          <a:xfrm>
            <a:off x="10096347" y="2377439"/>
            <a:ext cx="1325881" cy="1783081"/>
          </a:xfrm>
          <a:prstGeom prst="roundRect">
            <a:avLst>
              <a:gd name="adj" fmla="val 14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25"/>
          <p:cNvSpPr txBox="1"/>
          <p:nvPr/>
        </p:nvSpPr>
        <p:spPr>
          <a:xfrm>
            <a:off x="10187786" y="2542032"/>
            <a:ext cx="1143001" cy="591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600"/>
              </a:spcBef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CACHE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Multi-vector FAISS</a:t>
            </a:r>
          </a:p>
          <a:p>
            <a:pPr algn="ctr">
              <a:lnSpc>
                <a:spcPct val="125000"/>
              </a:lnSpc>
              <a:defRPr sz="9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+ SQLite</a:t>
            </a:r>
          </a:p>
        </p:txBody>
      </p:sp>
      <p:sp>
        <p:nvSpPr>
          <p:cNvPr id="161" name="Rounded Rectangle 26"/>
          <p:cNvSpPr/>
          <p:nvPr/>
        </p:nvSpPr>
        <p:spPr>
          <a:xfrm>
            <a:off x="640080" y="4572000"/>
            <a:ext cx="10911535" cy="1417320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Rounded Rectangle 27"/>
          <p:cNvSpPr/>
          <p:nvPr/>
        </p:nvSpPr>
        <p:spPr>
          <a:xfrm>
            <a:off x="932688" y="4846320"/>
            <a:ext cx="50801" cy="868681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28"/>
          <p:cNvSpPr txBox="1"/>
          <p:nvPr/>
        </p:nvSpPr>
        <p:spPr>
          <a:xfrm>
            <a:off x="1207006" y="4773167"/>
            <a:ext cx="9997137" cy="686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1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DESIGN RULE</a:t>
            </a:r>
          </a:p>
          <a:p>
            <a:pPr>
              <a:lnSpc>
                <a:spcPct val="130000"/>
              </a:lnSpc>
              <a:defRPr sz="12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The LLM (Google Gemini) is an optional enrichment layer. With no key — or under rate limits — the pipeline degrades gracefully to pure rules at $0.00/query.</a:t>
            </a:r>
          </a:p>
        </p:txBody>
      </p:sp>
      <p:sp>
        <p:nvSpPr>
          <p:cNvPr id="164" name="TextBox 29"/>
          <p:cNvSpPr txBox="1"/>
          <p:nvPr/>
        </p:nvSpPr>
        <p:spPr>
          <a:xfrm>
            <a:off x="11109959" y="6419088"/>
            <a:ext cx="548641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5A5A5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Box 2"/>
          <p:cNvSpPr txBox="1"/>
          <p:nvPr/>
        </p:nvSpPr>
        <p:spPr>
          <a:xfrm>
            <a:off x="611919" y="456691"/>
            <a:ext cx="7315201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05  ·  T E C H  S T A C K</a:t>
            </a:r>
          </a:p>
        </p:txBody>
      </p:sp>
      <p:sp>
        <p:nvSpPr>
          <p:cNvPr id="168" name="Rectangle 3"/>
          <p:cNvSpPr/>
          <p:nvPr/>
        </p:nvSpPr>
        <p:spPr>
          <a:xfrm>
            <a:off x="640080" y="666749"/>
            <a:ext cx="502920" cy="25401"/>
          </a:xfrm>
          <a:prstGeom prst="rect">
            <a:avLst/>
          </a:prstGeom>
          <a:solidFill>
            <a:srgbClr val="C0C0C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4"/>
          <p:cNvSpPr txBox="1"/>
          <p:nvPr/>
        </p:nvSpPr>
        <p:spPr>
          <a:xfrm>
            <a:off x="640079" y="713231"/>
            <a:ext cx="10911537" cy="1591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4000"/>
              </a:lnSpc>
              <a:defRPr sz="40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Boring where it counts.</a:t>
            </a:r>
          </a:p>
          <a:p>
            <a:pPr>
              <a:lnSpc>
                <a:spcPct val="104000"/>
              </a:lnSpc>
              <a:defRPr sz="40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Sharp where it matters.</a:t>
            </a:r>
          </a:p>
        </p:txBody>
      </p:sp>
      <p:sp>
        <p:nvSpPr>
          <p:cNvPr id="170" name="Rounded Rectangle 5"/>
          <p:cNvSpPr/>
          <p:nvPr/>
        </p:nvSpPr>
        <p:spPr>
          <a:xfrm>
            <a:off x="640080" y="2331720"/>
            <a:ext cx="3423819" cy="155448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6"/>
          <p:cNvSpPr txBox="1"/>
          <p:nvPr/>
        </p:nvSpPr>
        <p:spPr>
          <a:xfrm>
            <a:off x="932687" y="2569462"/>
            <a:ext cx="2838604" cy="890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19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FastAPI</a:t>
            </a:r>
          </a:p>
          <a:p>
            <a:pPr>
              <a:lnSpc>
                <a:spcPct val="130000"/>
              </a:lnSpc>
              <a:defRPr sz="11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Open, unauthenticated REST API</a:t>
            </a:r>
          </a:p>
          <a:p>
            <a:pPr>
              <a:lnSpc>
                <a:spcPct val="130000"/>
              </a:lnSpc>
              <a:defRPr sz="11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GET /health · POST /v1/troubleshoot</a:t>
            </a:r>
          </a:p>
        </p:txBody>
      </p:sp>
      <p:sp>
        <p:nvSpPr>
          <p:cNvPr id="172" name="Rounded Rectangle 7"/>
          <p:cNvSpPr/>
          <p:nvPr/>
        </p:nvSpPr>
        <p:spPr>
          <a:xfrm>
            <a:off x="4383937" y="2331720"/>
            <a:ext cx="3423819" cy="155448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8"/>
          <p:cNvSpPr txBox="1"/>
          <p:nvPr/>
        </p:nvSpPr>
        <p:spPr>
          <a:xfrm>
            <a:off x="4676545" y="2569462"/>
            <a:ext cx="2838604" cy="890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19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BM25 + FAISS</a:t>
            </a:r>
          </a:p>
          <a:p>
            <a:pPr>
              <a:lnSpc>
                <a:spcPct val="130000"/>
              </a:lnSpc>
              <a:defRPr sz="11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Hybrid retrieval + cross-encoder</a:t>
            </a:r>
          </a:p>
          <a:p>
            <a:pPr>
              <a:lnSpc>
                <a:spcPct val="130000"/>
              </a:lnSpc>
              <a:defRPr sz="11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rerank for exact deeplinks</a:t>
            </a:r>
          </a:p>
        </p:txBody>
      </p:sp>
      <p:sp>
        <p:nvSpPr>
          <p:cNvPr id="174" name="Rounded Rectangle 9"/>
          <p:cNvSpPr/>
          <p:nvPr/>
        </p:nvSpPr>
        <p:spPr>
          <a:xfrm>
            <a:off x="8127796" y="2331720"/>
            <a:ext cx="3423819" cy="155448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TextBox 10"/>
          <p:cNvSpPr txBox="1"/>
          <p:nvPr/>
        </p:nvSpPr>
        <p:spPr>
          <a:xfrm>
            <a:off x="8420403" y="2569462"/>
            <a:ext cx="2838603" cy="890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19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Google Gemini</a:t>
            </a:r>
          </a:p>
          <a:p>
            <a:pPr>
              <a:lnSpc>
                <a:spcPct val="130000"/>
              </a:lnSpc>
              <a:defRPr sz="11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Optional enrichment only —</a:t>
            </a:r>
          </a:p>
          <a:p>
            <a:pPr>
              <a:lnSpc>
                <a:spcPct val="130000"/>
              </a:lnSpc>
              <a:defRPr sz="11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never required</a:t>
            </a:r>
          </a:p>
        </p:txBody>
      </p:sp>
      <p:sp>
        <p:nvSpPr>
          <p:cNvPr id="176" name="Rounded Rectangle 11"/>
          <p:cNvSpPr/>
          <p:nvPr/>
        </p:nvSpPr>
        <p:spPr>
          <a:xfrm>
            <a:off x="640080" y="4114800"/>
            <a:ext cx="3423819" cy="155448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12"/>
          <p:cNvSpPr txBox="1"/>
          <p:nvPr/>
        </p:nvSpPr>
        <p:spPr>
          <a:xfrm>
            <a:off x="932687" y="4352544"/>
            <a:ext cx="2838604" cy="890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19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SQLite</a:t>
            </a:r>
          </a:p>
          <a:p>
            <a:pPr>
              <a:lnSpc>
                <a:spcPct val="130000"/>
              </a:lnSpc>
              <a:defRPr sz="11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Cached plans +</a:t>
            </a:r>
          </a:p>
          <a:p>
            <a:pPr>
              <a:lnSpc>
                <a:spcPct val="130000"/>
              </a:lnSpc>
              <a:defRPr sz="11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vector index metadata</a:t>
            </a:r>
          </a:p>
        </p:txBody>
      </p:sp>
      <p:sp>
        <p:nvSpPr>
          <p:cNvPr id="178" name="Rounded Rectangle 13"/>
          <p:cNvSpPr/>
          <p:nvPr/>
        </p:nvSpPr>
        <p:spPr>
          <a:xfrm>
            <a:off x="4383937" y="4114800"/>
            <a:ext cx="3423819" cy="155448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14"/>
          <p:cNvSpPr txBox="1"/>
          <p:nvPr/>
        </p:nvSpPr>
        <p:spPr>
          <a:xfrm>
            <a:off x="4676545" y="4352544"/>
            <a:ext cx="2838604" cy="890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19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Docker</a:t>
            </a:r>
          </a:p>
          <a:p>
            <a:pPr>
              <a:lnSpc>
                <a:spcPct val="130000"/>
              </a:lnSpc>
              <a:defRPr sz="11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One-command,</a:t>
            </a:r>
          </a:p>
          <a:p>
            <a:pPr>
              <a:lnSpc>
                <a:spcPct val="130000"/>
              </a:lnSpc>
              <a:defRPr sz="11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reproducible deployment</a:t>
            </a:r>
          </a:p>
        </p:txBody>
      </p:sp>
      <p:sp>
        <p:nvSpPr>
          <p:cNvPr id="180" name="Rounded Rectangle 15"/>
          <p:cNvSpPr/>
          <p:nvPr/>
        </p:nvSpPr>
        <p:spPr>
          <a:xfrm>
            <a:off x="8127796" y="4114800"/>
            <a:ext cx="3423819" cy="155448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16"/>
          <p:cNvSpPr txBox="1"/>
          <p:nvPr/>
        </p:nvSpPr>
        <p:spPr>
          <a:xfrm>
            <a:off x="8420403" y="4352544"/>
            <a:ext cx="2838603" cy="890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19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pPr>
            <a:r>
              <a:t>pytest</a:t>
            </a:r>
          </a:p>
          <a:p>
            <a:pPr>
              <a:lnSpc>
                <a:spcPct val="130000"/>
              </a:lnSpc>
              <a:defRPr sz="11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91 tests · hard-gated</a:t>
            </a:r>
          </a:p>
          <a:p>
            <a:pPr>
              <a:lnSpc>
                <a:spcPct val="130000"/>
              </a:lnSpc>
              <a:defRPr sz="11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eval harness</a:t>
            </a:r>
          </a:p>
        </p:txBody>
      </p:sp>
      <p:sp>
        <p:nvSpPr>
          <p:cNvPr id="182" name="TextBox 17"/>
          <p:cNvSpPr txBox="1"/>
          <p:nvPr/>
        </p:nvSpPr>
        <p:spPr>
          <a:xfrm>
            <a:off x="11109959" y="6419088"/>
            <a:ext cx="548641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5A5A5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Box 2"/>
          <p:cNvSpPr txBox="1"/>
          <p:nvPr/>
        </p:nvSpPr>
        <p:spPr>
          <a:xfrm>
            <a:off x="640080" y="274319"/>
            <a:ext cx="7315201" cy="188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06  ·  I N N O V A T I O N</a:t>
            </a:r>
          </a:p>
        </p:txBody>
      </p:sp>
      <p:sp>
        <p:nvSpPr>
          <p:cNvPr id="186" name="Rectangle 3"/>
          <p:cNvSpPr/>
          <p:nvPr/>
        </p:nvSpPr>
        <p:spPr>
          <a:xfrm>
            <a:off x="640080" y="566927"/>
            <a:ext cx="502920" cy="25401"/>
          </a:xfrm>
          <a:prstGeom prst="rect">
            <a:avLst/>
          </a:prstGeom>
          <a:solidFill>
            <a:srgbClr val="C0C0C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4"/>
          <p:cNvSpPr txBox="1"/>
          <p:nvPr/>
        </p:nvSpPr>
        <p:spPr>
          <a:xfrm>
            <a:off x="640079" y="713231"/>
            <a:ext cx="10911537" cy="874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4000"/>
              </a:lnSpc>
              <a:defRPr sz="44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Why this wins</a:t>
            </a:r>
          </a:p>
        </p:txBody>
      </p:sp>
      <p:sp>
        <p:nvSpPr>
          <p:cNvPr id="188" name="Rounded Rectangle 5"/>
          <p:cNvSpPr/>
          <p:nvPr/>
        </p:nvSpPr>
        <p:spPr>
          <a:xfrm>
            <a:off x="524154" y="1939544"/>
            <a:ext cx="11130992" cy="969265"/>
          </a:xfrm>
          <a:prstGeom prst="roundRect">
            <a:avLst>
              <a:gd name="adj" fmla="val 16000"/>
            </a:avLst>
          </a:prstGeom>
          <a:solidFill>
            <a:srgbClr val="0B0B0B"/>
          </a:solidFill>
          <a:ln w="127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6"/>
          <p:cNvSpPr txBox="1"/>
          <p:nvPr/>
        </p:nvSpPr>
        <p:spPr>
          <a:xfrm>
            <a:off x="640080" y="2173732"/>
            <a:ext cx="777241" cy="62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8000"/>
              </a:lnSpc>
              <a:defRPr sz="3000">
                <a:solidFill>
                  <a:srgbClr val="303030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90" name="TextBox 7"/>
          <p:cNvSpPr txBox="1"/>
          <p:nvPr/>
        </p:nvSpPr>
        <p:spPr>
          <a:xfrm>
            <a:off x="1508759" y="2399538"/>
            <a:ext cx="10042857" cy="239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FFFFFF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latin typeface="SF Pro Bold"/>
                <a:ea typeface="SF Pro Bold"/>
                <a:cs typeface="SF Pro Bold"/>
                <a:sym typeface="SF Pro Bold"/>
              </a:rPr>
              <a:t>No hallucinations — by construction.  </a:t>
            </a:r>
            <a:r>
              <a:rPr sz="1200">
                <a:solidFill>
                  <a:srgbClr val="BDBDBD"/>
                </a:solidFill>
              </a:rPr>
              <a:t>Every step cites a verbatim SIIS span. Uncited plans are rejected.</a:t>
            </a:r>
          </a:p>
        </p:txBody>
      </p:sp>
      <p:sp>
        <p:nvSpPr>
          <p:cNvPr id="191" name="Rounded Rectangle 8"/>
          <p:cNvSpPr/>
          <p:nvPr/>
        </p:nvSpPr>
        <p:spPr>
          <a:xfrm>
            <a:off x="524154" y="2898267"/>
            <a:ext cx="11130992" cy="969265"/>
          </a:xfrm>
          <a:prstGeom prst="roundRect">
            <a:avLst>
              <a:gd name="adj" fmla="val 16000"/>
            </a:avLst>
          </a:prstGeom>
          <a:solidFill>
            <a:srgbClr val="0B0B0B"/>
          </a:solidFill>
          <a:ln w="127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9"/>
          <p:cNvSpPr txBox="1"/>
          <p:nvPr/>
        </p:nvSpPr>
        <p:spPr>
          <a:xfrm>
            <a:off x="640080" y="3044825"/>
            <a:ext cx="777241" cy="62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8000"/>
              </a:lnSpc>
              <a:defRPr sz="3000">
                <a:solidFill>
                  <a:srgbClr val="303030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93" name="TextBox 10"/>
          <p:cNvSpPr txBox="1"/>
          <p:nvPr/>
        </p:nvSpPr>
        <p:spPr>
          <a:xfrm>
            <a:off x="1508759" y="3309111"/>
            <a:ext cx="10042857" cy="239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FFFFFF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latin typeface="SF Pro Bold"/>
                <a:ea typeface="SF Pro Bold"/>
                <a:cs typeface="SF Pro Bold"/>
                <a:sym typeface="SF Pro Bold"/>
              </a:rPr>
              <a:t>Verbatim deeplinks.  </a:t>
            </a:r>
            <a:r>
              <a:rPr sz="1200">
                <a:solidFill>
                  <a:srgbClr val="BDBDBD"/>
                </a:solidFill>
              </a:rPr>
              <a:t>Only catalog entries, copied exactly from 578 Settings screens. Nothing invented.</a:t>
            </a:r>
          </a:p>
        </p:txBody>
      </p:sp>
      <p:sp>
        <p:nvSpPr>
          <p:cNvPr id="194" name="Rounded Rectangle 11"/>
          <p:cNvSpPr/>
          <p:nvPr/>
        </p:nvSpPr>
        <p:spPr>
          <a:xfrm>
            <a:off x="524154" y="3801618"/>
            <a:ext cx="11130992" cy="969265"/>
          </a:xfrm>
          <a:prstGeom prst="roundRect">
            <a:avLst>
              <a:gd name="adj" fmla="val 16000"/>
            </a:avLst>
          </a:prstGeom>
          <a:solidFill>
            <a:srgbClr val="0B0B0B"/>
          </a:solidFill>
          <a:ln w="127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TextBox 12"/>
          <p:cNvSpPr txBox="1"/>
          <p:nvPr/>
        </p:nvSpPr>
        <p:spPr>
          <a:xfrm>
            <a:off x="640080" y="3991165"/>
            <a:ext cx="777241" cy="62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8000"/>
              </a:lnSpc>
              <a:defRPr sz="3000">
                <a:solidFill>
                  <a:srgbClr val="303030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96" name="TextBox 13"/>
          <p:cNvSpPr txBox="1"/>
          <p:nvPr/>
        </p:nvSpPr>
        <p:spPr>
          <a:xfrm>
            <a:off x="1508759" y="4256024"/>
            <a:ext cx="10042857" cy="239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FFFFFF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latin typeface="SF Pro Bold"/>
                <a:ea typeface="SF Pro Bold"/>
                <a:cs typeface="SF Pro Bold"/>
                <a:sym typeface="SF Pro Bold"/>
              </a:rPr>
              <a:t>Multi-vector paraphrase cache.  </a:t>
            </a:r>
            <a:r>
              <a:rPr sz="1200">
                <a:solidFill>
                  <a:srgbClr val="BDBDBD"/>
                </a:solidFill>
              </a:rPr>
              <a:t>8–10 paraphrases embedded up front — 97.5% hit on unseen rewordings, 0% false hits.</a:t>
            </a:r>
          </a:p>
        </p:txBody>
      </p:sp>
      <p:sp>
        <p:nvSpPr>
          <p:cNvPr id="197" name="Rounded Rectangle 14"/>
          <p:cNvSpPr/>
          <p:nvPr/>
        </p:nvSpPr>
        <p:spPr>
          <a:xfrm>
            <a:off x="524154" y="4763261"/>
            <a:ext cx="11130992" cy="969265"/>
          </a:xfrm>
          <a:prstGeom prst="roundRect">
            <a:avLst>
              <a:gd name="adj" fmla="val 16000"/>
            </a:avLst>
          </a:prstGeom>
          <a:solidFill>
            <a:srgbClr val="0B0B0B"/>
          </a:solidFill>
          <a:ln w="127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15"/>
          <p:cNvSpPr txBox="1"/>
          <p:nvPr/>
        </p:nvSpPr>
        <p:spPr>
          <a:xfrm>
            <a:off x="640080" y="4937505"/>
            <a:ext cx="777241" cy="62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8000"/>
              </a:lnSpc>
              <a:defRPr sz="3000">
                <a:solidFill>
                  <a:srgbClr val="303030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99" name="TextBox 16"/>
          <p:cNvSpPr txBox="1"/>
          <p:nvPr/>
        </p:nvSpPr>
        <p:spPr>
          <a:xfrm>
            <a:off x="1508759" y="5128005"/>
            <a:ext cx="10042857" cy="239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FFFFFF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latin typeface="SF Pro Bold"/>
                <a:ea typeface="SF Pro Bold"/>
                <a:cs typeface="SF Pro Bold"/>
                <a:sym typeface="SF Pro Bold"/>
              </a:rPr>
              <a:t>Hybrid retrieval + rerank.  </a:t>
            </a:r>
            <a:r>
              <a:rPr sz="1200">
                <a:solidFill>
                  <a:srgbClr val="BDBDBD"/>
                </a:solidFill>
              </a:rPr>
              <a:t>Lexical + dense + cross-encoder with leaf-screen preference: 100% deeplink accuracy.</a:t>
            </a:r>
          </a:p>
        </p:txBody>
      </p:sp>
      <p:sp>
        <p:nvSpPr>
          <p:cNvPr id="200" name="Rounded Rectangle 17"/>
          <p:cNvSpPr/>
          <p:nvPr/>
        </p:nvSpPr>
        <p:spPr>
          <a:xfrm>
            <a:off x="524154" y="5659374"/>
            <a:ext cx="11130992" cy="969265"/>
          </a:xfrm>
          <a:prstGeom prst="roundRect">
            <a:avLst>
              <a:gd name="adj" fmla="val 16000"/>
            </a:avLst>
          </a:prstGeom>
          <a:solidFill>
            <a:srgbClr val="0B0B0B"/>
          </a:solidFill>
          <a:ln w="127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18"/>
          <p:cNvSpPr txBox="1"/>
          <p:nvPr/>
        </p:nvSpPr>
        <p:spPr>
          <a:xfrm>
            <a:off x="640080" y="5833618"/>
            <a:ext cx="777241" cy="62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8000"/>
              </a:lnSpc>
              <a:defRPr sz="3000">
                <a:solidFill>
                  <a:srgbClr val="303030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02" name="TextBox 19"/>
          <p:cNvSpPr txBox="1"/>
          <p:nvPr/>
        </p:nvSpPr>
        <p:spPr>
          <a:xfrm>
            <a:off x="1508759" y="6024118"/>
            <a:ext cx="10042857" cy="239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FFFFFF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latin typeface="SF Pro Bold"/>
                <a:ea typeface="SF Pro Bold"/>
                <a:cs typeface="SF Pro Bold"/>
                <a:sym typeface="SF Pro Bold"/>
              </a:rPr>
              <a:t>Graceful LLM degradation.  </a:t>
            </a:r>
            <a:r>
              <a:rPr sz="1200">
                <a:solidFill>
                  <a:srgbClr val="BDBDBD"/>
                </a:solidFill>
              </a:rPr>
              <a:t>No key or rate-limited? Rules take over — all gates green at $0.00/query.</a:t>
            </a:r>
          </a:p>
        </p:txBody>
      </p:sp>
      <p:sp>
        <p:nvSpPr>
          <p:cNvPr id="203" name="TextBox 20"/>
          <p:cNvSpPr txBox="1"/>
          <p:nvPr/>
        </p:nvSpPr>
        <p:spPr>
          <a:xfrm>
            <a:off x="11109959" y="6419088"/>
            <a:ext cx="548641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5A5A5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TextBox 2"/>
          <p:cNvSpPr txBox="1"/>
          <p:nvPr/>
        </p:nvSpPr>
        <p:spPr>
          <a:xfrm>
            <a:off x="569679" y="499601"/>
            <a:ext cx="7315201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07  ·  R E S U L T S</a:t>
            </a:r>
          </a:p>
        </p:txBody>
      </p:sp>
      <p:sp>
        <p:nvSpPr>
          <p:cNvPr id="207" name="Rectangle 3"/>
          <p:cNvSpPr/>
          <p:nvPr/>
        </p:nvSpPr>
        <p:spPr>
          <a:xfrm>
            <a:off x="640080" y="721809"/>
            <a:ext cx="502920" cy="25401"/>
          </a:xfrm>
          <a:prstGeom prst="rect">
            <a:avLst/>
          </a:prstGeom>
          <a:solidFill>
            <a:srgbClr val="C0C0C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TextBox 4"/>
          <p:cNvSpPr txBox="1"/>
          <p:nvPr/>
        </p:nvSpPr>
        <p:spPr>
          <a:xfrm>
            <a:off x="640079" y="713231"/>
            <a:ext cx="10911537" cy="874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4000"/>
              </a:lnSpc>
              <a:defRPr sz="44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Every hard gate passes</a:t>
            </a:r>
          </a:p>
        </p:txBody>
      </p:sp>
      <p:sp>
        <p:nvSpPr>
          <p:cNvPr id="209" name="TextBox 5"/>
          <p:cNvSpPr txBox="1"/>
          <p:nvPr/>
        </p:nvSpPr>
        <p:spPr>
          <a:xfrm>
            <a:off x="640079" y="1719071"/>
            <a:ext cx="1091153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600">
                <a:solidFill>
                  <a:srgbClr val="FFFFFF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20/20 responses fully compliant  ·  results.jsonl ships 8–10 query variations per query</a:t>
            </a:r>
          </a:p>
        </p:txBody>
      </p:sp>
      <p:sp>
        <p:nvSpPr>
          <p:cNvPr id="210" name="Rounded Rectangle 6"/>
          <p:cNvSpPr/>
          <p:nvPr/>
        </p:nvSpPr>
        <p:spPr>
          <a:xfrm>
            <a:off x="640080" y="2286000"/>
            <a:ext cx="2487854" cy="164592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7"/>
          <p:cNvSpPr txBox="1"/>
          <p:nvPr/>
        </p:nvSpPr>
        <p:spPr>
          <a:xfrm>
            <a:off x="896111" y="2450592"/>
            <a:ext cx="1299134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900">
                <a:solidFill>
                  <a:srgbClr val="8A8A8A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DEEPLINK ACCURACY</a:t>
            </a:r>
          </a:p>
        </p:txBody>
      </p:sp>
      <p:grpSp>
        <p:nvGrpSpPr>
          <p:cNvPr id="214" name="Rounded Rectangle 8"/>
          <p:cNvGrpSpPr/>
          <p:nvPr/>
        </p:nvGrpSpPr>
        <p:grpSpPr>
          <a:xfrm>
            <a:off x="2259252" y="2432304"/>
            <a:ext cx="713233" cy="274321"/>
            <a:chOff x="0" y="0"/>
            <a:chExt cx="713231" cy="274320"/>
          </a:xfrm>
        </p:grpSpPr>
        <p:sp>
          <p:nvSpPr>
            <p:cNvPr id="212" name="Rounded Rectangle"/>
            <p:cNvSpPr/>
            <p:nvPr/>
          </p:nvSpPr>
          <p:spPr>
            <a:xfrm>
              <a:off x="0" y="0"/>
              <a:ext cx="713232" cy="27432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3" name="✓ PASS"/>
            <p:cNvSpPr txBox="1"/>
            <p:nvPr/>
          </p:nvSpPr>
          <p:spPr>
            <a:xfrm>
              <a:off x="40172" y="65579"/>
              <a:ext cx="632888" cy="143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900">
                  <a:solidFill>
                    <a:srgbClr val="0A0A0A"/>
                  </a:solidFill>
                  <a:latin typeface="SF Pro Bold"/>
                  <a:ea typeface="SF Pro Bold"/>
                  <a:cs typeface="SF Pro Bold"/>
                  <a:sym typeface="SF Pro Bold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"/>
                </a:rPr>
                <a:t>✓ </a:t>
              </a:r>
              <a:r>
                <a:t>PASS</a:t>
              </a:r>
            </a:p>
          </p:txBody>
        </p:sp>
      </p:grpSp>
      <p:sp>
        <p:nvSpPr>
          <p:cNvPr id="215" name="TextBox 9"/>
          <p:cNvSpPr txBox="1"/>
          <p:nvPr/>
        </p:nvSpPr>
        <p:spPr>
          <a:xfrm>
            <a:off x="896111" y="2816351"/>
            <a:ext cx="1975791" cy="67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34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216" name="TextBox 10"/>
          <p:cNvSpPr txBox="1"/>
          <p:nvPr/>
        </p:nvSpPr>
        <p:spPr>
          <a:xfrm>
            <a:off x="896111" y="3456432"/>
            <a:ext cx="1975791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16 hand-labelled</a:t>
            </a:r>
          </a:p>
        </p:txBody>
      </p:sp>
      <p:sp>
        <p:nvSpPr>
          <p:cNvPr id="217" name="Rounded Rectangle 11"/>
          <p:cNvSpPr/>
          <p:nvPr/>
        </p:nvSpPr>
        <p:spPr>
          <a:xfrm>
            <a:off x="3447972" y="2286000"/>
            <a:ext cx="2487854" cy="164592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12"/>
          <p:cNvSpPr txBox="1"/>
          <p:nvPr/>
        </p:nvSpPr>
        <p:spPr>
          <a:xfrm>
            <a:off x="3704004" y="2450592"/>
            <a:ext cx="1299134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900">
                <a:solidFill>
                  <a:srgbClr val="8A8A8A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SCHEMA VIOLATIONS</a:t>
            </a:r>
          </a:p>
        </p:txBody>
      </p:sp>
      <p:grpSp>
        <p:nvGrpSpPr>
          <p:cNvPr id="221" name="Rounded Rectangle 13"/>
          <p:cNvGrpSpPr/>
          <p:nvPr/>
        </p:nvGrpSpPr>
        <p:grpSpPr>
          <a:xfrm>
            <a:off x="5067146" y="2432304"/>
            <a:ext cx="713233" cy="274321"/>
            <a:chOff x="0" y="0"/>
            <a:chExt cx="713231" cy="274320"/>
          </a:xfrm>
        </p:grpSpPr>
        <p:sp>
          <p:nvSpPr>
            <p:cNvPr id="219" name="Rounded Rectangle"/>
            <p:cNvSpPr/>
            <p:nvPr/>
          </p:nvSpPr>
          <p:spPr>
            <a:xfrm>
              <a:off x="0" y="0"/>
              <a:ext cx="713232" cy="27432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0" name="✓ PASS"/>
            <p:cNvSpPr txBox="1"/>
            <p:nvPr/>
          </p:nvSpPr>
          <p:spPr>
            <a:xfrm>
              <a:off x="40172" y="65579"/>
              <a:ext cx="632888" cy="143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900">
                  <a:solidFill>
                    <a:srgbClr val="0A0A0A"/>
                  </a:solidFill>
                  <a:latin typeface="SF Pro Bold"/>
                  <a:ea typeface="SF Pro Bold"/>
                  <a:cs typeface="SF Pro Bold"/>
                  <a:sym typeface="SF Pro Bold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"/>
                </a:rPr>
                <a:t>✓ </a:t>
              </a:r>
              <a:r>
                <a:t>PASS</a:t>
              </a:r>
            </a:p>
          </p:txBody>
        </p:sp>
      </p:grpSp>
      <p:sp>
        <p:nvSpPr>
          <p:cNvPr id="222" name="TextBox 14"/>
          <p:cNvSpPr txBox="1"/>
          <p:nvPr/>
        </p:nvSpPr>
        <p:spPr>
          <a:xfrm>
            <a:off x="3704004" y="2816351"/>
            <a:ext cx="1975790" cy="67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34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3" name="TextBox 15"/>
          <p:cNvSpPr txBox="1"/>
          <p:nvPr/>
        </p:nvSpPr>
        <p:spPr>
          <a:xfrm>
            <a:off x="3704004" y="3456432"/>
            <a:ext cx="1975790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20 responses · budget 0</a:t>
            </a:r>
          </a:p>
        </p:txBody>
      </p:sp>
      <p:sp>
        <p:nvSpPr>
          <p:cNvPr id="224" name="Rounded Rectangle 16"/>
          <p:cNvSpPr/>
          <p:nvPr/>
        </p:nvSpPr>
        <p:spPr>
          <a:xfrm>
            <a:off x="6255866" y="2286000"/>
            <a:ext cx="2487854" cy="164592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TextBox 17"/>
          <p:cNvSpPr txBox="1"/>
          <p:nvPr/>
        </p:nvSpPr>
        <p:spPr>
          <a:xfrm>
            <a:off x="6511898" y="2450592"/>
            <a:ext cx="1299134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900">
                <a:solidFill>
                  <a:srgbClr val="8A8A8A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URL LEAKS</a:t>
            </a:r>
          </a:p>
        </p:txBody>
      </p:sp>
      <p:grpSp>
        <p:nvGrpSpPr>
          <p:cNvPr id="228" name="Rounded Rectangle 18"/>
          <p:cNvGrpSpPr/>
          <p:nvPr/>
        </p:nvGrpSpPr>
        <p:grpSpPr>
          <a:xfrm>
            <a:off x="7875041" y="2432304"/>
            <a:ext cx="713233" cy="274321"/>
            <a:chOff x="0" y="0"/>
            <a:chExt cx="713231" cy="274320"/>
          </a:xfrm>
        </p:grpSpPr>
        <p:sp>
          <p:nvSpPr>
            <p:cNvPr id="226" name="Rounded Rectangle"/>
            <p:cNvSpPr/>
            <p:nvPr/>
          </p:nvSpPr>
          <p:spPr>
            <a:xfrm>
              <a:off x="0" y="0"/>
              <a:ext cx="713232" cy="27432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7" name="✓ PASS"/>
            <p:cNvSpPr txBox="1"/>
            <p:nvPr/>
          </p:nvSpPr>
          <p:spPr>
            <a:xfrm>
              <a:off x="40172" y="65579"/>
              <a:ext cx="632888" cy="143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900">
                  <a:solidFill>
                    <a:srgbClr val="0A0A0A"/>
                  </a:solidFill>
                  <a:latin typeface="SF Pro Bold"/>
                  <a:ea typeface="SF Pro Bold"/>
                  <a:cs typeface="SF Pro Bold"/>
                  <a:sym typeface="SF Pro Bold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"/>
                </a:rPr>
                <a:t>✓ </a:t>
              </a:r>
              <a:r>
                <a:t>PASS</a:t>
              </a:r>
            </a:p>
          </p:txBody>
        </p:sp>
      </p:grpSp>
      <p:sp>
        <p:nvSpPr>
          <p:cNvPr id="229" name="TextBox 19"/>
          <p:cNvSpPr txBox="1"/>
          <p:nvPr/>
        </p:nvSpPr>
        <p:spPr>
          <a:xfrm>
            <a:off x="6511898" y="2816351"/>
            <a:ext cx="1975790" cy="67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34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0" name="TextBox 20"/>
          <p:cNvSpPr txBox="1"/>
          <p:nvPr/>
        </p:nvSpPr>
        <p:spPr>
          <a:xfrm>
            <a:off x="6511898" y="3456432"/>
            <a:ext cx="1975790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in responses · budget 0</a:t>
            </a:r>
          </a:p>
        </p:txBody>
      </p:sp>
      <p:sp>
        <p:nvSpPr>
          <p:cNvPr id="231" name="Rounded Rectangle 21"/>
          <p:cNvSpPr/>
          <p:nvPr/>
        </p:nvSpPr>
        <p:spPr>
          <a:xfrm>
            <a:off x="9063760" y="2286000"/>
            <a:ext cx="2487854" cy="164592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2" name="TextBox 22"/>
          <p:cNvSpPr txBox="1"/>
          <p:nvPr/>
        </p:nvSpPr>
        <p:spPr>
          <a:xfrm>
            <a:off x="9319793" y="2450592"/>
            <a:ext cx="1299134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900">
                <a:solidFill>
                  <a:srgbClr val="8A8A8A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FALSE HITS</a:t>
            </a:r>
          </a:p>
        </p:txBody>
      </p:sp>
      <p:grpSp>
        <p:nvGrpSpPr>
          <p:cNvPr id="235" name="Rounded Rectangle 23"/>
          <p:cNvGrpSpPr/>
          <p:nvPr/>
        </p:nvGrpSpPr>
        <p:grpSpPr>
          <a:xfrm>
            <a:off x="10682934" y="2432304"/>
            <a:ext cx="713233" cy="274321"/>
            <a:chOff x="0" y="0"/>
            <a:chExt cx="713231" cy="274320"/>
          </a:xfrm>
        </p:grpSpPr>
        <p:sp>
          <p:nvSpPr>
            <p:cNvPr id="233" name="Rounded Rectangle"/>
            <p:cNvSpPr/>
            <p:nvPr/>
          </p:nvSpPr>
          <p:spPr>
            <a:xfrm>
              <a:off x="0" y="0"/>
              <a:ext cx="713232" cy="27432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4" name="✓ PASS"/>
            <p:cNvSpPr txBox="1"/>
            <p:nvPr/>
          </p:nvSpPr>
          <p:spPr>
            <a:xfrm>
              <a:off x="40172" y="65579"/>
              <a:ext cx="632888" cy="143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900">
                  <a:solidFill>
                    <a:srgbClr val="0A0A0A"/>
                  </a:solidFill>
                  <a:latin typeface="SF Pro Bold"/>
                  <a:ea typeface="SF Pro Bold"/>
                  <a:cs typeface="SF Pro Bold"/>
                  <a:sym typeface="SF Pro Bold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"/>
                </a:rPr>
                <a:t>✓ </a:t>
              </a:r>
              <a:r>
                <a:t>PASS</a:t>
              </a:r>
            </a:p>
          </p:txBody>
        </p:sp>
      </p:grpSp>
      <p:sp>
        <p:nvSpPr>
          <p:cNvPr id="236" name="TextBox 24"/>
          <p:cNvSpPr txBox="1"/>
          <p:nvPr/>
        </p:nvSpPr>
        <p:spPr>
          <a:xfrm>
            <a:off x="9319793" y="2816351"/>
            <a:ext cx="1975790" cy="67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34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0%</a:t>
            </a:r>
          </a:p>
        </p:txBody>
      </p:sp>
      <p:sp>
        <p:nvSpPr>
          <p:cNvPr id="237" name="TextBox 25"/>
          <p:cNvSpPr txBox="1"/>
          <p:nvPr/>
        </p:nvSpPr>
        <p:spPr>
          <a:xfrm>
            <a:off x="9319793" y="3456432"/>
            <a:ext cx="1975790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on negative queries</a:t>
            </a:r>
          </a:p>
        </p:txBody>
      </p:sp>
      <p:sp>
        <p:nvSpPr>
          <p:cNvPr id="238" name="Rounded Rectangle 26"/>
          <p:cNvSpPr/>
          <p:nvPr/>
        </p:nvSpPr>
        <p:spPr>
          <a:xfrm>
            <a:off x="640080" y="4160520"/>
            <a:ext cx="2487854" cy="164592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27"/>
          <p:cNvSpPr txBox="1"/>
          <p:nvPr/>
        </p:nvSpPr>
        <p:spPr>
          <a:xfrm>
            <a:off x="896111" y="4325111"/>
            <a:ext cx="1299134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900">
                <a:solidFill>
                  <a:srgbClr val="8A8A8A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CACHE-HIT P95</a:t>
            </a:r>
          </a:p>
        </p:txBody>
      </p:sp>
      <p:grpSp>
        <p:nvGrpSpPr>
          <p:cNvPr id="242" name="Rounded Rectangle 28"/>
          <p:cNvGrpSpPr/>
          <p:nvPr/>
        </p:nvGrpSpPr>
        <p:grpSpPr>
          <a:xfrm>
            <a:off x="2259252" y="4306823"/>
            <a:ext cx="713233" cy="274321"/>
            <a:chOff x="0" y="0"/>
            <a:chExt cx="713231" cy="274320"/>
          </a:xfrm>
        </p:grpSpPr>
        <p:sp>
          <p:nvSpPr>
            <p:cNvPr id="240" name="Rounded Rectangle"/>
            <p:cNvSpPr/>
            <p:nvPr/>
          </p:nvSpPr>
          <p:spPr>
            <a:xfrm>
              <a:off x="0" y="0"/>
              <a:ext cx="713232" cy="27432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1" name="✓ PASS"/>
            <p:cNvSpPr txBox="1"/>
            <p:nvPr/>
          </p:nvSpPr>
          <p:spPr>
            <a:xfrm>
              <a:off x="40172" y="65579"/>
              <a:ext cx="632888" cy="143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900">
                  <a:solidFill>
                    <a:srgbClr val="0A0A0A"/>
                  </a:solidFill>
                  <a:latin typeface="SF Pro Bold"/>
                  <a:ea typeface="SF Pro Bold"/>
                  <a:cs typeface="SF Pro Bold"/>
                  <a:sym typeface="SF Pro Bold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"/>
                </a:rPr>
                <a:t>✓ </a:t>
              </a:r>
              <a:r>
                <a:t>PASS</a:t>
              </a:r>
            </a:p>
          </p:txBody>
        </p:sp>
      </p:grpSp>
      <p:sp>
        <p:nvSpPr>
          <p:cNvPr id="243" name="TextBox 29"/>
          <p:cNvSpPr txBox="1"/>
          <p:nvPr/>
        </p:nvSpPr>
        <p:spPr>
          <a:xfrm>
            <a:off x="896111" y="4690871"/>
            <a:ext cx="1975791" cy="67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34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~40 ms</a:t>
            </a:r>
          </a:p>
        </p:txBody>
      </p:sp>
      <p:sp>
        <p:nvSpPr>
          <p:cNvPr id="244" name="TextBox 30"/>
          <p:cNvSpPr txBox="1"/>
          <p:nvPr/>
        </p:nvSpPr>
        <p:spPr>
          <a:xfrm>
            <a:off x="896111" y="5330952"/>
            <a:ext cx="1975791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budget ≤ 300 ms</a:t>
            </a:r>
          </a:p>
        </p:txBody>
      </p:sp>
      <p:sp>
        <p:nvSpPr>
          <p:cNvPr id="245" name="Rounded Rectangle 31"/>
          <p:cNvSpPr/>
          <p:nvPr/>
        </p:nvSpPr>
        <p:spPr>
          <a:xfrm>
            <a:off x="3447972" y="4160520"/>
            <a:ext cx="2487854" cy="164592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32"/>
          <p:cNvSpPr txBox="1"/>
          <p:nvPr/>
        </p:nvSpPr>
        <p:spPr>
          <a:xfrm>
            <a:off x="3704004" y="4325111"/>
            <a:ext cx="1299134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900">
                <a:solidFill>
                  <a:srgbClr val="8A8A8A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NEW-QUERY P95</a:t>
            </a:r>
          </a:p>
        </p:txBody>
      </p:sp>
      <p:grpSp>
        <p:nvGrpSpPr>
          <p:cNvPr id="249" name="Rounded Rectangle 33"/>
          <p:cNvGrpSpPr/>
          <p:nvPr/>
        </p:nvGrpSpPr>
        <p:grpSpPr>
          <a:xfrm>
            <a:off x="5067146" y="4306823"/>
            <a:ext cx="713233" cy="274321"/>
            <a:chOff x="0" y="0"/>
            <a:chExt cx="713231" cy="274320"/>
          </a:xfrm>
        </p:grpSpPr>
        <p:sp>
          <p:nvSpPr>
            <p:cNvPr id="247" name="Rounded Rectangle"/>
            <p:cNvSpPr/>
            <p:nvPr/>
          </p:nvSpPr>
          <p:spPr>
            <a:xfrm>
              <a:off x="0" y="0"/>
              <a:ext cx="713232" cy="27432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8" name="✓ PASS"/>
            <p:cNvSpPr txBox="1"/>
            <p:nvPr/>
          </p:nvSpPr>
          <p:spPr>
            <a:xfrm>
              <a:off x="40172" y="65579"/>
              <a:ext cx="632888" cy="143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900">
                  <a:solidFill>
                    <a:srgbClr val="0A0A0A"/>
                  </a:solidFill>
                  <a:latin typeface="SF Pro Bold"/>
                  <a:ea typeface="SF Pro Bold"/>
                  <a:cs typeface="SF Pro Bold"/>
                  <a:sym typeface="SF Pro Bold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"/>
                </a:rPr>
                <a:t>✓ </a:t>
              </a:r>
              <a:r>
                <a:t>PASS</a:t>
              </a:r>
            </a:p>
          </p:txBody>
        </p:sp>
      </p:grpSp>
      <p:sp>
        <p:nvSpPr>
          <p:cNvPr id="250" name="TextBox 34"/>
          <p:cNvSpPr txBox="1"/>
          <p:nvPr/>
        </p:nvSpPr>
        <p:spPr>
          <a:xfrm>
            <a:off x="3704004" y="4690871"/>
            <a:ext cx="1975790" cy="67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34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~600 ms</a:t>
            </a:r>
          </a:p>
        </p:txBody>
      </p:sp>
      <p:sp>
        <p:nvSpPr>
          <p:cNvPr id="251" name="TextBox 35"/>
          <p:cNvSpPr txBox="1"/>
          <p:nvPr/>
        </p:nvSpPr>
        <p:spPr>
          <a:xfrm>
            <a:off x="3704004" y="5330952"/>
            <a:ext cx="1975790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budget ≤ 8000 ms</a:t>
            </a:r>
          </a:p>
        </p:txBody>
      </p:sp>
      <p:sp>
        <p:nvSpPr>
          <p:cNvPr id="252" name="Rounded Rectangle 36"/>
          <p:cNvSpPr/>
          <p:nvPr/>
        </p:nvSpPr>
        <p:spPr>
          <a:xfrm>
            <a:off x="6255866" y="4160520"/>
            <a:ext cx="2487854" cy="164592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TextBox 37"/>
          <p:cNvSpPr txBox="1"/>
          <p:nvPr/>
        </p:nvSpPr>
        <p:spPr>
          <a:xfrm>
            <a:off x="6511898" y="4325111"/>
            <a:ext cx="1299134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900">
                <a:solidFill>
                  <a:srgbClr val="8A8A8A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UNSEEN-PARAPHRASE HIT</a:t>
            </a:r>
          </a:p>
        </p:txBody>
      </p:sp>
      <p:grpSp>
        <p:nvGrpSpPr>
          <p:cNvPr id="256" name="Rounded Rectangle 38"/>
          <p:cNvGrpSpPr/>
          <p:nvPr/>
        </p:nvGrpSpPr>
        <p:grpSpPr>
          <a:xfrm>
            <a:off x="7875041" y="4306823"/>
            <a:ext cx="713233" cy="274321"/>
            <a:chOff x="0" y="0"/>
            <a:chExt cx="713231" cy="274320"/>
          </a:xfrm>
        </p:grpSpPr>
        <p:sp>
          <p:nvSpPr>
            <p:cNvPr id="254" name="Rounded Rectangle"/>
            <p:cNvSpPr/>
            <p:nvPr/>
          </p:nvSpPr>
          <p:spPr>
            <a:xfrm>
              <a:off x="0" y="0"/>
              <a:ext cx="713232" cy="27432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5" name="✓ PASS"/>
            <p:cNvSpPr txBox="1"/>
            <p:nvPr/>
          </p:nvSpPr>
          <p:spPr>
            <a:xfrm>
              <a:off x="40172" y="65579"/>
              <a:ext cx="632888" cy="143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900">
                  <a:solidFill>
                    <a:srgbClr val="0A0A0A"/>
                  </a:solidFill>
                  <a:latin typeface="SF Pro Bold"/>
                  <a:ea typeface="SF Pro Bold"/>
                  <a:cs typeface="SF Pro Bold"/>
                  <a:sym typeface="SF Pro Bold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"/>
                </a:rPr>
                <a:t>✓ </a:t>
              </a:r>
              <a:r>
                <a:t>PASS</a:t>
              </a:r>
            </a:p>
          </p:txBody>
        </p:sp>
      </p:grpSp>
      <p:sp>
        <p:nvSpPr>
          <p:cNvPr id="257" name="TextBox 39"/>
          <p:cNvSpPr txBox="1"/>
          <p:nvPr/>
        </p:nvSpPr>
        <p:spPr>
          <a:xfrm>
            <a:off x="6511898" y="4690871"/>
            <a:ext cx="1975790" cy="67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34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97.5%</a:t>
            </a:r>
          </a:p>
        </p:txBody>
      </p:sp>
      <p:sp>
        <p:nvSpPr>
          <p:cNvPr id="258" name="TextBox 40"/>
          <p:cNvSpPr txBox="1"/>
          <p:nvPr/>
        </p:nvSpPr>
        <p:spPr>
          <a:xfrm>
            <a:off x="6511898" y="5330952"/>
            <a:ext cx="1975790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cache hit rate</a:t>
            </a:r>
          </a:p>
        </p:txBody>
      </p:sp>
      <p:sp>
        <p:nvSpPr>
          <p:cNvPr id="259" name="Rounded Rectangle 41"/>
          <p:cNvSpPr/>
          <p:nvPr/>
        </p:nvSpPr>
        <p:spPr>
          <a:xfrm>
            <a:off x="9063760" y="4160520"/>
            <a:ext cx="2487854" cy="164592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42"/>
          <p:cNvSpPr txBox="1"/>
          <p:nvPr/>
        </p:nvSpPr>
        <p:spPr>
          <a:xfrm>
            <a:off x="9319793" y="4325111"/>
            <a:ext cx="1299134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900">
                <a:solidFill>
                  <a:srgbClr val="8A8A8A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RULES-MODE COST</a:t>
            </a:r>
          </a:p>
        </p:txBody>
      </p:sp>
      <p:grpSp>
        <p:nvGrpSpPr>
          <p:cNvPr id="263" name="Rounded Rectangle 43"/>
          <p:cNvGrpSpPr/>
          <p:nvPr/>
        </p:nvGrpSpPr>
        <p:grpSpPr>
          <a:xfrm>
            <a:off x="10682934" y="4306823"/>
            <a:ext cx="713233" cy="274321"/>
            <a:chOff x="0" y="0"/>
            <a:chExt cx="713231" cy="274320"/>
          </a:xfrm>
        </p:grpSpPr>
        <p:sp>
          <p:nvSpPr>
            <p:cNvPr id="261" name="Rounded Rectangle"/>
            <p:cNvSpPr/>
            <p:nvPr/>
          </p:nvSpPr>
          <p:spPr>
            <a:xfrm>
              <a:off x="0" y="0"/>
              <a:ext cx="713232" cy="27432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2" name="✓ PASS"/>
            <p:cNvSpPr txBox="1"/>
            <p:nvPr/>
          </p:nvSpPr>
          <p:spPr>
            <a:xfrm>
              <a:off x="40172" y="65579"/>
              <a:ext cx="632888" cy="143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sz="900">
                  <a:solidFill>
                    <a:srgbClr val="0A0A0A"/>
                  </a:solidFill>
                  <a:latin typeface="SF Pro Bold"/>
                  <a:ea typeface="SF Pro Bold"/>
                  <a:cs typeface="SF Pro Bold"/>
                  <a:sym typeface="SF Pro Bold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"/>
                </a:rPr>
                <a:t>✓ </a:t>
              </a:r>
              <a:r>
                <a:t>PASS</a:t>
              </a:r>
            </a:p>
          </p:txBody>
        </p:sp>
      </p:grpSp>
      <p:sp>
        <p:nvSpPr>
          <p:cNvPr id="264" name="TextBox 44"/>
          <p:cNvSpPr txBox="1"/>
          <p:nvPr/>
        </p:nvSpPr>
        <p:spPr>
          <a:xfrm>
            <a:off x="9319793" y="4690871"/>
            <a:ext cx="1975790" cy="67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34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$0.00</a:t>
            </a:r>
          </a:p>
        </p:txBody>
      </p:sp>
      <p:sp>
        <p:nvSpPr>
          <p:cNvPr id="265" name="TextBox 45"/>
          <p:cNvSpPr txBox="1"/>
          <p:nvPr/>
        </p:nvSpPr>
        <p:spPr>
          <a:xfrm>
            <a:off x="9319793" y="5330952"/>
            <a:ext cx="1975790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per query</a:t>
            </a:r>
          </a:p>
        </p:txBody>
      </p:sp>
      <p:sp>
        <p:nvSpPr>
          <p:cNvPr id="266" name="TextBox 46"/>
          <p:cNvSpPr txBox="1"/>
          <p:nvPr/>
        </p:nvSpPr>
        <p:spPr>
          <a:xfrm>
            <a:off x="11109959" y="6419088"/>
            <a:ext cx="548641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5A5A5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TextBox 2"/>
          <p:cNvSpPr txBox="1"/>
          <p:nvPr/>
        </p:nvSpPr>
        <p:spPr>
          <a:xfrm>
            <a:off x="640080" y="274319"/>
            <a:ext cx="7315201" cy="188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08  ·  A B L A T I O N S</a:t>
            </a:r>
          </a:p>
        </p:txBody>
      </p:sp>
      <p:sp>
        <p:nvSpPr>
          <p:cNvPr id="270" name="Rectangle 3"/>
          <p:cNvSpPr/>
          <p:nvPr/>
        </p:nvSpPr>
        <p:spPr>
          <a:xfrm>
            <a:off x="640080" y="566927"/>
            <a:ext cx="502920" cy="25401"/>
          </a:xfrm>
          <a:prstGeom prst="rect">
            <a:avLst/>
          </a:prstGeom>
          <a:solidFill>
            <a:srgbClr val="C0C0C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4"/>
          <p:cNvSpPr txBox="1"/>
          <p:nvPr/>
        </p:nvSpPr>
        <p:spPr>
          <a:xfrm>
            <a:off x="640079" y="713231"/>
            <a:ext cx="10911537" cy="82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4000"/>
              </a:lnSpc>
              <a:defRPr sz="42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Each component earns its place</a:t>
            </a:r>
          </a:p>
        </p:txBody>
      </p:sp>
      <p:sp>
        <p:nvSpPr>
          <p:cNvPr id="272" name="Rounded Rectangle 5"/>
          <p:cNvSpPr/>
          <p:nvPr/>
        </p:nvSpPr>
        <p:spPr>
          <a:xfrm>
            <a:off x="640080" y="2331720"/>
            <a:ext cx="10911535" cy="155448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6"/>
          <p:cNvSpPr txBox="1"/>
          <p:nvPr/>
        </p:nvSpPr>
        <p:spPr>
          <a:xfrm>
            <a:off x="1051559" y="2587751"/>
            <a:ext cx="6035042" cy="46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1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DEEPLINK RETRIEVAL</a:t>
            </a:r>
          </a:p>
          <a:p>
            <a:pPr>
              <a:lnSpc>
                <a:spcPct val="108000"/>
              </a:lnSpc>
              <a:defRPr sz="13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Dense-only  →  Hybrid (BM25 + dense + cross-encoder rerank)</a:t>
            </a:r>
          </a:p>
        </p:txBody>
      </p:sp>
      <p:sp>
        <p:nvSpPr>
          <p:cNvPr id="274" name="TextBox 7"/>
          <p:cNvSpPr txBox="1"/>
          <p:nvPr/>
        </p:nvSpPr>
        <p:spPr>
          <a:xfrm>
            <a:off x="7406640" y="2646172"/>
            <a:ext cx="3733496" cy="925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r">
              <a:lnSpc>
                <a:spcPct val="108000"/>
              </a:lnSpc>
              <a:defRPr sz="30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latin typeface="Merriweather Light Bold"/>
                <a:ea typeface="Merriweather Light Bold"/>
                <a:cs typeface="Merriweather Light Bold"/>
                <a:sym typeface="Merriweather Light Bold"/>
              </a:rPr>
              <a:t>69%   </a:t>
            </a:r>
            <a:r>
              <a:rPr sz="2600">
                <a:solidFill>
                  <a:srgbClr val="C0C0C0"/>
                </a:solidFill>
              </a:rPr>
              <a:t>→   </a:t>
            </a:r>
            <a:r>
              <a:rPr sz="46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rPr>
              <a:t>100%</a:t>
            </a:r>
          </a:p>
        </p:txBody>
      </p:sp>
      <p:sp>
        <p:nvSpPr>
          <p:cNvPr id="275" name="Rounded Rectangle 8"/>
          <p:cNvSpPr/>
          <p:nvPr/>
        </p:nvSpPr>
        <p:spPr>
          <a:xfrm>
            <a:off x="640080" y="4114800"/>
            <a:ext cx="10911535" cy="155448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9"/>
          <p:cNvSpPr txBox="1"/>
          <p:nvPr/>
        </p:nvSpPr>
        <p:spPr>
          <a:xfrm>
            <a:off x="1051559" y="4370832"/>
            <a:ext cx="6035042" cy="46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600"/>
              </a:spcBef>
              <a:defRPr sz="1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PARAPHRASE CACHE HIT RATE</a:t>
            </a:r>
          </a:p>
          <a:p>
            <a:pPr>
              <a:lnSpc>
                <a:spcPct val="108000"/>
              </a:lnSpc>
              <a:defRPr sz="13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Single-vector  →  Multi-vector (8–10 paraphrases)</a:t>
            </a:r>
          </a:p>
        </p:txBody>
      </p:sp>
      <p:sp>
        <p:nvSpPr>
          <p:cNvPr id="277" name="TextBox 10"/>
          <p:cNvSpPr txBox="1"/>
          <p:nvPr/>
        </p:nvSpPr>
        <p:spPr>
          <a:xfrm>
            <a:off x="7406640" y="4429251"/>
            <a:ext cx="3733496" cy="925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r">
              <a:lnSpc>
                <a:spcPct val="108000"/>
              </a:lnSpc>
              <a:defRPr sz="30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latin typeface="Merriweather Light Bold"/>
                <a:ea typeface="Merriweather Light Bold"/>
                <a:cs typeface="Merriweather Light Bold"/>
                <a:sym typeface="Merriweather Light Bold"/>
              </a:rPr>
              <a:t>48%   </a:t>
            </a:r>
            <a:r>
              <a:rPr sz="2600">
                <a:solidFill>
                  <a:srgbClr val="C0C0C0"/>
                </a:solidFill>
              </a:rPr>
              <a:t>→   </a:t>
            </a:r>
            <a:r>
              <a:rPr sz="46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rPr>
              <a:t>98%</a:t>
            </a:r>
          </a:p>
        </p:txBody>
      </p:sp>
      <p:sp>
        <p:nvSpPr>
          <p:cNvPr id="278" name="TextBox 11"/>
          <p:cNvSpPr txBox="1"/>
          <p:nvPr/>
        </p:nvSpPr>
        <p:spPr>
          <a:xfrm>
            <a:off x="640079" y="5989320"/>
            <a:ext cx="1091153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lnSpc>
                <a:spcPct val="108000"/>
              </a:lnSpc>
              <a:defRPr sz="1600">
                <a:solidFill>
                  <a:srgbClr val="BDBDBD"/>
                </a:solidFill>
                <a:latin typeface="SF Pro Rounded Regular"/>
                <a:ea typeface="SF Pro Rounded Regular"/>
                <a:cs typeface="SF Pro Rounded Regular"/>
                <a:sym typeface="SF Pro Rounded Regular"/>
              </a:defRPr>
            </a:pPr>
            <a:r>
              <a:rPr>
                <a:solidFill>
                  <a:srgbClr val="FFFFFF"/>
                </a:solidFill>
              </a:rPr>
              <a:t>Rules-only pipeline: </a:t>
            </a:r>
            <a:r>
              <a:t>20/20 compliant · 0 violations · $0.00/query — the deterministic core carries the product on its own.</a:t>
            </a:r>
          </a:p>
        </p:txBody>
      </p:sp>
      <p:sp>
        <p:nvSpPr>
          <p:cNvPr id="279" name="TextBox 12"/>
          <p:cNvSpPr txBox="1"/>
          <p:nvPr/>
        </p:nvSpPr>
        <p:spPr>
          <a:xfrm>
            <a:off x="11109959" y="6419088"/>
            <a:ext cx="548641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5A5A5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TextBox 2"/>
          <p:cNvSpPr txBox="1"/>
          <p:nvPr/>
        </p:nvSpPr>
        <p:spPr>
          <a:xfrm>
            <a:off x="583759" y="475132"/>
            <a:ext cx="7315201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09  ·  D E M O</a:t>
            </a:r>
          </a:p>
        </p:txBody>
      </p:sp>
      <p:sp>
        <p:nvSpPr>
          <p:cNvPr id="283" name="Rectangle 3"/>
          <p:cNvSpPr/>
          <p:nvPr/>
        </p:nvSpPr>
        <p:spPr>
          <a:xfrm>
            <a:off x="625999" y="713231"/>
            <a:ext cx="502920" cy="25401"/>
          </a:xfrm>
          <a:prstGeom prst="rect">
            <a:avLst/>
          </a:prstGeom>
          <a:solidFill>
            <a:srgbClr val="C0C0C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TextBox 4"/>
          <p:cNvSpPr txBox="1"/>
          <p:nvPr/>
        </p:nvSpPr>
        <p:spPr>
          <a:xfrm>
            <a:off x="640079" y="713231"/>
            <a:ext cx="10911537" cy="82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4000"/>
              </a:lnSpc>
              <a:defRPr sz="42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One call. One validated plan.</a:t>
            </a:r>
          </a:p>
        </p:txBody>
      </p:sp>
      <p:sp>
        <p:nvSpPr>
          <p:cNvPr id="285" name="Rounded Rectangle 5"/>
          <p:cNvSpPr/>
          <p:nvPr/>
        </p:nvSpPr>
        <p:spPr>
          <a:xfrm>
            <a:off x="640080" y="2240279"/>
            <a:ext cx="5227168" cy="397764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88" name="Rounded Rectangle 6"/>
          <p:cNvGrpSpPr/>
          <p:nvPr/>
        </p:nvGrpSpPr>
        <p:grpSpPr>
          <a:xfrm>
            <a:off x="960119" y="2487167"/>
            <a:ext cx="1234440" cy="329185"/>
            <a:chOff x="0" y="0"/>
            <a:chExt cx="1234439" cy="329184"/>
          </a:xfrm>
        </p:grpSpPr>
        <p:sp>
          <p:nvSpPr>
            <p:cNvPr id="286" name="Rounded Rectangle"/>
            <p:cNvSpPr/>
            <p:nvPr/>
          </p:nvSpPr>
          <p:spPr>
            <a:xfrm>
              <a:off x="0" y="0"/>
              <a:ext cx="1234440" cy="329185"/>
            </a:xfrm>
            <a:prstGeom prst="roundRect">
              <a:avLst>
                <a:gd name="adj" fmla="val 50000"/>
              </a:avLst>
            </a:prstGeom>
            <a:solidFill>
              <a:srgbClr val="1E1E1E"/>
            </a:solidFill>
            <a:ln w="12700" cap="flat">
              <a:solidFill>
                <a:srgbClr val="46464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7" name="REQUEST"/>
            <p:cNvSpPr txBox="1"/>
            <p:nvPr/>
          </p:nvSpPr>
          <p:spPr>
            <a:xfrm>
              <a:off x="54557" y="88392"/>
              <a:ext cx="1125326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000">
                  <a:solidFill>
                    <a:srgbClr val="C0C0C0"/>
                  </a:solidFill>
                  <a:latin typeface="SF Pro Bold"/>
                  <a:ea typeface="SF Pro Bold"/>
                  <a:cs typeface="SF Pro Bold"/>
                  <a:sym typeface="SF Pro Bold"/>
                </a:defRPr>
              </a:lvl1pPr>
            </a:lstStyle>
            <a:p>
              <a:pPr/>
              <a:r>
                <a:t>REQUEST</a:t>
              </a:r>
            </a:p>
          </p:txBody>
        </p:sp>
      </p:grpSp>
      <p:sp>
        <p:nvSpPr>
          <p:cNvPr id="289" name="TextBox 7"/>
          <p:cNvSpPr txBox="1"/>
          <p:nvPr/>
        </p:nvSpPr>
        <p:spPr>
          <a:xfrm>
            <a:off x="2423160" y="2550921"/>
            <a:ext cx="321548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8000"/>
              </a:lnSpc>
              <a:defRPr b="1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POST /v1/troubleshoot</a:t>
            </a:r>
          </a:p>
        </p:txBody>
      </p:sp>
      <p:sp>
        <p:nvSpPr>
          <p:cNvPr id="290" name="Rectangle 8"/>
          <p:cNvSpPr/>
          <p:nvPr/>
        </p:nvSpPr>
        <p:spPr>
          <a:xfrm>
            <a:off x="960118" y="2944367"/>
            <a:ext cx="4587089" cy="12701"/>
          </a:xfrm>
          <a:prstGeom prst="rect">
            <a:avLst/>
          </a:prstGeom>
          <a:solidFill>
            <a:srgbClr val="2D2D2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TextBox 9"/>
          <p:cNvSpPr txBox="1"/>
          <p:nvPr/>
        </p:nvSpPr>
        <p:spPr>
          <a:xfrm>
            <a:off x="960118" y="3090671"/>
            <a:ext cx="4587089" cy="1267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"query": "My Galaxy screen keeps flickering",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"siis_response": {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"title": "Screen Flicker Troubleshooting",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"body": "If your screen flickers, first verify..."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}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292" name="Rounded Rectangle 10"/>
          <p:cNvSpPr/>
          <p:nvPr/>
        </p:nvSpPr>
        <p:spPr>
          <a:xfrm>
            <a:off x="6324446" y="2240279"/>
            <a:ext cx="5227168" cy="397764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95" name="Rounded Rectangle 11"/>
          <p:cNvGrpSpPr/>
          <p:nvPr/>
        </p:nvGrpSpPr>
        <p:grpSpPr>
          <a:xfrm>
            <a:off x="6644486" y="2487167"/>
            <a:ext cx="1234441" cy="329185"/>
            <a:chOff x="0" y="0"/>
            <a:chExt cx="1234439" cy="329184"/>
          </a:xfrm>
        </p:grpSpPr>
        <p:sp>
          <p:nvSpPr>
            <p:cNvPr id="293" name="Rounded Rectangle"/>
            <p:cNvSpPr/>
            <p:nvPr/>
          </p:nvSpPr>
          <p:spPr>
            <a:xfrm>
              <a:off x="0" y="0"/>
              <a:ext cx="1234440" cy="329185"/>
            </a:xfrm>
            <a:prstGeom prst="roundRect">
              <a:avLst>
                <a:gd name="adj" fmla="val 50000"/>
              </a:avLst>
            </a:prstGeom>
            <a:solidFill>
              <a:srgbClr val="1E1E1E"/>
            </a:solidFill>
            <a:ln w="12700" cap="flat">
              <a:solidFill>
                <a:srgbClr val="46464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4" name="RESPONSE"/>
            <p:cNvSpPr txBox="1"/>
            <p:nvPr/>
          </p:nvSpPr>
          <p:spPr>
            <a:xfrm>
              <a:off x="54557" y="88392"/>
              <a:ext cx="1125326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000">
                  <a:solidFill>
                    <a:srgbClr val="C0C0C0"/>
                  </a:solidFill>
                  <a:latin typeface="SF Pro Bold"/>
                  <a:ea typeface="SF Pro Bold"/>
                  <a:cs typeface="SF Pro Bold"/>
                  <a:sym typeface="SF Pro Bold"/>
                </a:defRPr>
              </a:lvl1pPr>
            </a:lstStyle>
            <a:p>
              <a:pPr/>
              <a:r>
                <a:t>RESPONSE</a:t>
              </a:r>
            </a:p>
          </p:txBody>
        </p:sp>
      </p:grpSp>
      <p:sp>
        <p:nvSpPr>
          <p:cNvPr id="296" name="TextBox 12"/>
          <p:cNvSpPr txBox="1"/>
          <p:nvPr/>
        </p:nvSpPr>
        <p:spPr>
          <a:xfrm>
            <a:off x="8107526" y="2550921"/>
            <a:ext cx="321548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lnSpc>
                <a:spcPct val="108000"/>
              </a:lnSpc>
              <a:defRPr b="1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200 OK · 404 ms · $0.0000</a:t>
            </a:r>
          </a:p>
        </p:txBody>
      </p:sp>
      <p:sp>
        <p:nvSpPr>
          <p:cNvPr id="297" name="Rectangle 13"/>
          <p:cNvSpPr/>
          <p:nvPr/>
        </p:nvSpPr>
        <p:spPr>
          <a:xfrm>
            <a:off x="6644486" y="2944367"/>
            <a:ext cx="4587088" cy="12701"/>
          </a:xfrm>
          <a:prstGeom prst="rect">
            <a:avLst/>
          </a:prstGeom>
          <a:solidFill>
            <a:srgbClr val="2D2D2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TextBox 14"/>
          <p:cNvSpPr txBox="1"/>
          <p:nvPr/>
        </p:nvSpPr>
        <p:spPr>
          <a:xfrm>
            <a:off x="6644486" y="3090671"/>
            <a:ext cx="4587088" cy="2886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"contexts": [{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"goal": "Follow these steps to perform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  this Screen Flicker Troubleshooting",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"title": "Screen Flicker Troubleshooting",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"actions": [{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"actionName": "Verify Your Phone's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          Display Settings",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"category": "auto",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"actionableDeeplink": {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"title": "Display",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"uri": "&lt;verbatim catalog uri&gt;"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}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}]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}]</a:t>
            </a:r>
          </a:p>
          <a:p>
            <a:pPr>
              <a:lnSpc>
                <a:spcPct val="117999"/>
              </a:lnSpc>
              <a:defRPr sz="1000">
                <a:solidFill>
                  <a:srgbClr val="D8D8D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299" name="TextBox 15"/>
          <p:cNvSpPr txBox="1"/>
          <p:nvPr/>
        </p:nvSpPr>
        <p:spPr>
          <a:xfrm>
            <a:off x="11109959" y="6419088"/>
            <a:ext cx="548641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5A5A5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TextBox 2"/>
          <p:cNvSpPr txBox="1"/>
          <p:nvPr/>
        </p:nvSpPr>
        <p:spPr>
          <a:xfrm>
            <a:off x="640080" y="274319"/>
            <a:ext cx="7315201" cy="188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10  ·  L I M I T A T I O N S  &amp;  N E X T  S T E P S</a:t>
            </a:r>
          </a:p>
        </p:txBody>
      </p:sp>
      <p:sp>
        <p:nvSpPr>
          <p:cNvPr id="303" name="Rectangle 3"/>
          <p:cNvSpPr/>
          <p:nvPr/>
        </p:nvSpPr>
        <p:spPr>
          <a:xfrm>
            <a:off x="640080" y="566927"/>
            <a:ext cx="502920" cy="25401"/>
          </a:xfrm>
          <a:prstGeom prst="rect">
            <a:avLst/>
          </a:prstGeom>
          <a:solidFill>
            <a:srgbClr val="C0C0C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4"/>
          <p:cNvSpPr txBox="1"/>
          <p:nvPr/>
        </p:nvSpPr>
        <p:spPr>
          <a:xfrm>
            <a:off x="640079" y="713231"/>
            <a:ext cx="10911537" cy="874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lnSpc>
                <a:spcPct val="104000"/>
              </a:lnSpc>
              <a:defRPr sz="44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Honest about the edges</a:t>
            </a:r>
          </a:p>
        </p:txBody>
      </p:sp>
      <p:sp>
        <p:nvSpPr>
          <p:cNvPr id="305" name="Rounded Rectangle 5"/>
          <p:cNvSpPr/>
          <p:nvPr/>
        </p:nvSpPr>
        <p:spPr>
          <a:xfrm>
            <a:off x="640080" y="2331720"/>
            <a:ext cx="5227168" cy="352044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Rounded Rectangle 6"/>
          <p:cNvSpPr/>
          <p:nvPr/>
        </p:nvSpPr>
        <p:spPr>
          <a:xfrm>
            <a:off x="960119" y="2651760"/>
            <a:ext cx="50801" cy="566929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7"/>
          <p:cNvSpPr txBox="1"/>
          <p:nvPr/>
        </p:nvSpPr>
        <p:spPr>
          <a:xfrm>
            <a:off x="1207007" y="2615183"/>
            <a:ext cx="4358488" cy="1916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1400"/>
              </a:spcBef>
              <a:defRPr sz="11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LIMITATIONS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3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rPr>
              <a:t>—  </a:t>
            </a:r>
            <a:r>
              <a:t>LLM enrichment is optional — free-tier rate limits apply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3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rPr>
              <a:t>—  </a:t>
            </a:r>
            <a:r>
              <a:t>English-only queries in this version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3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rPr>
              <a:t>—  </a:t>
            </a:r>
            <a:r>
              <a:t>Evaluated on the 20 provided SIIS articles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3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rPr>
              <a:t>—  </a:t>
            </a:r>
            <a:r>
              <a:t>Deeplink catalog fixed at 578 entries</a:t>
            </a:r>
          </a:p>
        </p:txBody>
      </p:sp>
      <p:sp>
        <p:nvSpPr>
          <p:cNvPr id="308" name="Rounded Rectangle 8"/>
          <p:cNvSpPr/>
          <p:nvPr/>
        </p:nvSpPr>
        <p:spPr>
          <a:xfrm>
            <a:off x="6324446" y="2331720"/>
            <a:ext cx="5227168" cy="3520441"/>
          </a:xfrm>
          <a:prstGeom prst="roundRect">
            <a:avLst>
              <a:gd name="adj" fmla="val 10000"/>
            </a:avLst>
          </a:prstGeom>
          <a:solidFill>
            <a:srgbClr val="0E0E0E"/>
          </a:solidFill>
          <a:ln w="12700">
            <a:solidFill>
              <a:srgbClr val="2D2D2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Rounded Rectangle 9"/>
          <p:cNvSpPr/>
          <p:nvPr/>
        </p:nvSpPr>
        <p:spPr>
          <a:xfrm>
            <a:off x="6644486" y="2651760"/>
            <a:ext cx="50801" cy="566929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10"/>
          <p:cNvSpPr txBox="1"/>
          <p:nvPr/>
        </p:nvSpPr>
        <p:spPr>
          <a:xfrm>
            <a:off x="6891374" y="2615183"/>
            <a:ext cx="4358488" cy="1678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lnSpc>
                <a:spcPct val="108000"/>
              </a:lnSpc>
              <a:spcBef>
                <a:spcPts val="1400"/>
              </a:spcBef>
              <a:defRPr sz="1100"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FUTURE WORK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3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rPr>
              <a:t>—  </a:t>
            </a:r>
            <a:r>
              <a:t>Multilingual query support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3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rPr>
              <a:t>—  </a:t>
            </a:r>
            <a:r>
              <a:t>Catalog auto-expansion as Settings evolve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3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rPr>
              <a:t>—  </a:t>
            </a:r>
            <a:r>
              <a:t>On-device small-model enrichment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300">
                <a:solidFill>
                  <a:srgbClr val="BDBDBD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solidFill>
                  <a:srgbClr val="C0C0C0"/>
                </a:solidFill>
                <a:latin typeface="SF Pro Bold"/>
                <a:ea typeface="SF Pro Bold"/>
                <a:cs typeface="SF Pro Bold"/>
                <a:sym typeface="SF Pro Bold"/>
              </a:rPr>
              <a:t>—  </a:t>
            </a:r>
            <a:r>
              <a:t>Feedback loop from real resolution outcomes</a:t>
            </a:r>
          </a:p>
        </p:txBody>
      </p:sp>
      <p:sp>
        <p:nvSpPr>
          <p:cNvPr id="311" name="TextBox 11"/>
          <p:cNvSpPr txBox="1"/>
          <p:nvPr/>
        </p:nvSpPr>
        <p:spPr>
          <a:xfrm>
            <a:off x="11109959" y="6419088"/>
            <a:ext cx="548641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5A5A5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14" name="TextBox 2"/>
          <p:cNvSpPr txBox="1"/>
          <p:nvPr/>
        </p:nvSpPr>
        <p:spPr>
          <a:xfrm>
            <a:off x="633882" y="702056"/>
            <a:ext cx="1091153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lnSpc>
                <a:spcPct val="108000"/>
              </a:lnSpc>
              <a:defRPr sz="1600">
                <a:solidFill>
                  <a:srgbClr val="FFFFFF"/>
                </a:solidFill>
                <a:latin typeface="SF Pro Rounded Regular"/>
                <a:ea typeface="SF Pro Rounded Regular"/>
                <a:cs typeface="SF Pro Rounded Regular"/>
                <a:sym typeface="SF Pro Rounded Regular"/>
              </a:defRPr>
            </a:lvl1pPr>
          </a:lstStyle>
          <a:p>
            <a:pPr/>
            <a:r>
              <a:t>SAMSUNG PRISM GENAI HACKATHON  ·  3RD EDITION  ·  2026–27</a:t>
            </a:r>
          </a:p>
        </p:txBody>
      </p:sp>
      <p:sp>
        <p:nvSpPr>
          <p:cNvPr id="315" name="TextBox 3"/>
          <p:cNvSpPr txBox="1"/>
          <p:nvPr/>
        </p:nvSpPr>
        <p:spPr>
          <a:xfrm>
            <a:off x="633882" y="1934718"/>
            <a:ext cx="10911536" cy="1179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lnSpc>
                <a:spcPct val="108000"/>
              </a:lnSpc>
              <a:defRPr sz="6000">
                <a:solidFill>
                  <a:srgbClr val="FFFFFF"/>
                </a:solidFill>
                <a:latin typeface="Merriweather Light Bold"/>
                <a:ea typeface="Merriweather Light Bold"/>
                <a:cs typeface="Merriweather Light Bold"/>
                <a:sym typeface="Merriweather Light Bold"/>
              </a:defRPr>
            </a:lvl1pPr>
          </a:lstStyle>
          <a:p>
            <a:pPr/>
            <a:r>
              <a:t>Thank You.</a:t>
            </a:r>
          </a:p>
        </p:txBody>
      </p:sp>
      <p:sp>
        <p:nvSpPr>
          <p:cNvPr id="316" name="TextBox 4"/>
          <p:cNvSpPr txBox="1"/>
          <p:nvPr/>
        </p:nvSpPr>
        <p:spPr>
          <a:xfrm>
            <a:off x="633882" y="3390900"/>
            <a:ext cx="1091153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lnSpc>
                <a:spcPct val="108000"/>
              </a:lnSpc>
              <a:defRPr sz="1600">
                <a:solidFill>
                  <a:srgbClr val="FFFFFF"/>
                </a:solidFill>
                <a:latin typeface="SF Pro Rounded Regular"/>
                <a:ea typeface="SF Pro Rounded Regular"/>
                <a:cs typeface="SF Pro Rounded Regular"/>
                <a:sym typeface="SF Pro Rounded Regular"/>
              </a:defRPr>
            </a:lvl1pPr>
          </a:lstStyle>
          <a:p>
            <a:pPr/>
            <a:r>
              <a:t>Theme 2  ·  Smart Guided Troubleshooting Engine</a:t>
            </a:r>
          </a:p>
        </p:txBody>
      </p:sp>
      <p:sp>
        <p:nvSpPr>
          <p:cNvPr id="317" name="Rectangle 5"/>
          <p:cNvSpPr/>
          <p:nvPr/>
        </p:nvSpPr>
        <p:spPr>
          <a:xfrm>
            <a:off x="5541009" y="3912489"/>
            <a:ext cx="1097282" cy="25401"/>
          </a:xfrm>
          <a:prstGeom prst="rect">
            <a:avLst/>
          </a:prstGeom>
          <a:solidFill>
            <a:srgbClr val="C0C0C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Rounded Rectangle 6"/>
          <p:cNvSpPr/>
          <p:nvPr/>
        </p:nvSpPr>
        <p:spPr>
          <a:xfrm>
            <a:off x="1974850" y="4080002"/>
            <a:ext cx="8229600" cy="1481329"/>
          </a:xfrm>
          <a:prstGeom prst="roundRect">
            <a:avLst>
              <a:gd name="adj" fmla="val 12000"/>
            </a:avLst>
          </a:prstGeom>
          <a:solidFill>
            <a:srgbClr val="0B0B0B"/>
          </a:solidFill>
          <a:ln w="127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7"/>
          <p:cNvSpPr txBox="1"/>
          <p:nvPr/>
        </p:nvSpPr>
        <p:spPr>
          <a:xfrm>
            <a:off x="633882" y="4404487"/>
            <a:ext cx="1091153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lnSpc>
                <a:spcPct val="108000"/>
              </a:lnSpc>
              <a:defRPr sz="16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GitHub Repository   </a:t>
            </a:r>
            <a:r>
              <a:rPr>
                <a:solidFill>
                  <a:srgbClr val="FFFFFF"/>
                </a:solidFill>
              </a:rPr>
              <a:t>github.com/armaan-tayal/TIET_Agentic_Alchemists</a:t>
            </a:r>
          </a:p>
        </p:txBody>
      </p:sp>
      <p:sp>
        <p:nvSpPr>
          <p:cNvPr id="320" name="TextBox 8"/>
          <p:cNvSpPr txBox="1"/>
          <p:nvPr/>
        </p:nvSpPr>
        <p:spPr>
          <a:xfrm>
            <a:off x="633882" y="4963330"/>
            <a:ext cx="1091153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lnSpc>
                <a:spcPct val="108000"/>
              </a:lnSpc>
              <a:defRPr sz="1600">
                <a:solidFill>
                  <a:srgbClr val="8A8A8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Video Link (YouTube)</a:t>
            </a:r>
            <a:r>
              <a:rPr>
                <a:latin typeface="SF Pro Bold"/>
                <a:ea typeface="SF Pro Bold"/>
                <a:cs typeface="SF Pro Bold"/>
                <a:sym typeface="SF Pro Bold"/>
              </a:rPr>
              <a:t>   </a:t>
            </a:r>
            <a:r>
              <a:rPr u="sng">
                <a:solidFill>
                  <a:srgbClr val="FFFF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https://youtu.be/Psh_xwHFJDE</a:t>
            </a:r>
          </a:p>
        </p:txBody>
      </p:sp>
      <p:sp>
        <p:nvSpPr>
          <p:cNvPr id="321" name="TextBox 9"/>
          <p:cNvSpPr txBox="1"/>
          <p:nvPr/>
        </p:nvSpPr>
        <p:spPr>
          <a:xfrm>
            <a:off x="633882" y="5972556"/>
            <a:ext cx="10911536" cy="459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 algn="ctr">
              <a:lnSpc>
                <a:spcPct val="108000"/>
              </a:lnSpc>
              <a:defRPr sz="1400">
                <a:solidFill>
                  <a:srgbClr val="FFFFFF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Armaan Tayal  ·  Tannishth Gupta  ·  Shlok Jain  ·  Krish Mittal</a:t>
            </a:r>
          </a:p>
          <a:p>
            <a:pPr algn="ctr">
              <a:lnSpc>
                <a:spcPct val="108000"/>
              </a:lnSpc>
              <a:defRPr sz="1400">
                <a:solidFill>
                  <a:srgbClr val="FFFFFF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Thapar Institute of Engineering &amp; Technology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